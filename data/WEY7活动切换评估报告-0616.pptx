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B45"/>
                </a:solidFill>
                <a:latin typeface="Arial"/>
              </a:defRPr>
            </a:pPr>
            <a:r>
              <a:rPr lang="en-US" altLang="zh-CN" sz="1000" b="0" i="0" u="none" strike="noStrike" dirty="0">
                <a:solidFill>
                  <a:srgbClr val="1E2B45"/>
                </a:solidFill>
                <a:latin typeface="Arial"/>
              </a:rPr>
              <a:t>WEY7 </a:t>
            </a:r>
            <a:r>
              <a:rPr lang="zh-CN" altLang="en-US" sz="1000" b="0" i="0" u="none" strike="noStrike" dirty="0">
                <a:solidFill>
                  <a:srgbClr val="1E2B45"/>
                </a:solidFill>
                <a:latin typeface="Arial"/>
              </a:rPr>
              <a:t>新手任务活动用户</a:t>
            </a:r>
            <a:r>
              <a:rPr lang="en-US" altLang="zh-CN" sz="1000" b="0" i="0" u="none" strike="noStrike" dirty="0">
                <a:solidFill>
                  <a:srgbClr val="1E2B45"/>
                </a:solidFill>
                <a:latin typeface="Arial"/>
              </a:rPr>
              <a:t>7</a:t>
            </a:r>
            <a:r>
              <a:rPr lang="zh-CN" altLang="en-US" sz="1000" b="0" i="0" u="none" strike="noStrike" dirty="0">
                <a:solidFill>
                  <a:srgbClr val="1E2B45"/>
                </a:solidFill>
                <a:latin typeface="Arial"/>
              </a:rPr>
              <a:t>日活跃留存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WEY7 新手任务活动用户留存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B45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当日</c:v>
                </c:pt>
                <c:pt idx="1">
                  <c:v>第1日</c:v>
                </c:pt>
                <c:pt idx="2">
                  <c:v>第2日</c:v>
                </c:pt>
                <c:pt idx="3">
                  <c:v>第3日</c:v>
                </c:pt>
                <c:pt idx="4">
                  <c:v>第4日</c:v>
                </c:pt>
                <c:pt idx="5">
                  <c:v>第5日</c:v>
                </c:pt>
                <c:pt idx="6">
                  <c:v>第6日</c:v>
                </c:pt>
                <c:pt idx="7">
                  <c:v>第7日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73.88</c:v>
                </c:pt>
                <c:pt idx="2">
                  <c:v>64.900000000000006</c:v>
                </c:pt>
                <c:pt idx="3">
                  <c:v>60.73</c:v>
                </c:pt>
                <c:pt idx="4">
                  <c:v>55.97</c:v>
                </c:pt>
                <c:pt idx="5">
                  <c:v>52.43</c:v>
                </c:pt>
                <c:pt idx="6">
                  <c:v>51.11</c:v>
                </c:pt>
                <c:pt idx="7">
                  <c:v>48.93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CF-4FE5-9174-07E99B8659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B45"/>
                </a:solidFill>
                <a:latin typeface="Arial"/>
              </a:defRPr>
            </a:pPr>
            <a:r>
              <a:rPr lang="zh-CN" altLang="en-US" sz="1000" b="0" i="0" u="none" strike="noStrike">
                <a:solidFill>
                  <a:srgbClr val="1E2B45"/>
                </a:solidFill>
                <a:latin typeface="Arial"/>
              </a:rPr>
              <a:t>参与人群规模对比（近</a:t>
            </a:r>
            <a:r>
              <a:rPr lang="en-US" altLang="zh-CN" sz="1000" b="0" i="0" u="none" strike="noStrike">
                <a:solidFill>
                  <a:srgbClr val="1E2B45"/>
                </a:solidFill>
                <a:latin typeface="Arial"/>
              </a:rPr>
              <a:t>14</a:t>
            </a:r>
            <a:r>
              <a:rPr lang="zh-CN" altLang="en-US" sz="1000" b="0" i="0" u="none" strike="noStrike">
                <a:solidFill>
                  <a:srgbClr val="1E2B45"/>
                </a:solidFill>
                <a:latin typeface="Arial"/>
              </a:rPr>
              <a:t>天）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参与人数（近14天）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4A-40DD-847B-EE1B87EAA521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4A-40DD-847B-EE1B87EAA5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B45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新手任务
（现状）</c:v>
                </c:pt>
                <c:pt idx="1">
                  <c:v>七日签到
（切换上限）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4834</c:v>
                </c:pt>
                <c:pt idx="1">
                  <c:v>3567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4A-40DD-847B-EE1B87EAA5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B45"/>
                </a:solidFill>
                <a:latin typeface="Arial"/>
              </a:defRPr>
            </a:pPr>
            <a:r>
              <a:rPr lang="zh-CN" altLang="en-US" sz="1000" b="0" i="0" u="none" strike="noStrike">
                <a:solidFill>
                  <a:srgbClr val="1E2B45"/>
                </a:solidFill>
                <a:latin typeface="Arial"/>
              </a:rPr>
              <a:t>大盘次日付费率 </a:t>
            </a:r>
            <a:r>
              <a:rPr lang="en-US" altLang="zh-CN" sz="1000" b="0" i="0" u="none" strike="noStrike">
                <a:solidFill>
                  <a:srgbClr val="1E2B45"/>
                </a:solidFill>
                <a:latin typeface="Arial"/>
              </a:rPr>
              <a:t>vs </a:t>
            </a:r>
            <a:r>
              <a:rPr lang="zh-CN" altLang="en-US" sz="1000" b="0" i="0" u="none" strike="noStrike">
                <a:solidFill>
                  <a:srgbClr val="1E2B45"/>
                </a:solidFill>
                <a:latin typeface="Arial"/>
              </a:rPr>
              <a:t>活动用户次日充值率（</a:t>
            </a:r>
            <a:r>
              <a:rPr lang="en-US" altLang="zh-CN" sz="1000" b="0" i="0" u="none" strike="noStrike">
                <a:solidFill>
                  <a:srgbClr val="1E2B45"/>
                </a:solidFill>
                <a:latin typeface="Arial"/>
              </a:rPr>
              <a:t>%</a:t>
            </a:r>
            <a:r>
              <a:rPr lang="zh-CN" altLang="en-US" sz="1000" b="0" i="0" u="none" strike="noStrike">
                <a:solidFill>
                  <a:srgbClr val="1E2B45"/>
                </a:solidFill>
                <a:latin typeface="Arial"/>
              </a:rPr>
              <a:t>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大盘活跃用户次日付费率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WEY7</c:v>
                </c:pt>
                <c:pt idx="1">
                  <c:v>AFUNMX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11.82</c:v>
                </c:pt>
                <c:pt idx="1">
                  <c:v>27.84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85-41BE-A1C8-B5BD3B7D38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活动用户次日充值率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WEY7</c:v>
                </c:pt>
                <c:pt idx="1">
                  <c:v>AFUNMX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25.6</c:v>
                </c:pt>
                <c:pt idx="1">
                  <c:v>32.78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85-41BE-A1C8-B5BD3B7D388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B45"/>
                </a:solidFill>
                <a:latin typeface="Arial"/>
              </a:defRPr>
            </a:pPr>
            <a:r>
              <a:rPr lang="zh-CN" altLang="en-US" sz="1000" b="0" i="0" u="none" strike="noStrike">
                <a:solidFill>
                  <a:srgbClr val="1E2B45"/>
                </a:solidFill>
                <a:latin typeface="Arial"/>
              </a:rPr>
              <a:t>大盘次日付费率 </a:t>
            </a:r>
            <a:r>
              <a:rPr lang="en-US" altLang="zh-CN" sz="1000" b="0" i="0" u="none" strike="noStrike">
                <a:solidFill>
                  <a:srgbClr val="1E2B45"/>
                </a:solidFill>
                <a:latin typeface="Arial"/>
              </a:rPr>
              <a:t>vs </a:t>
            </a:r>
            <a:r>
              <a:rPr lang="zh-CN" altLang="en-US" sz="1000" b="0" i="0" u="none" strike="noStrike">
                <a:solidFill>
                  <a:srgbClr val="1E2B45"/>
                </a:solidFill>
                <a:latin typeface="Arial"/>
              </a:rPr>
              <a:t>活动用户次日充值率（</a:t>
            </a:r>
            <a:r>
              <a:rPr lang="en-US" altLang="zh-CN" sz="1000" b="0" i="0" u="none" strike="noStrike">
                <a:solidFill>
                  <a:srgbClr val="1E2B45"/>
                </a:solidFill>
                <a:latin typeface="Arial"/>
              </a:rPr>
              <a:t>%</a:t>
            </a:r>
            <a:r>
              <a:rPr lang="zh-CN" altLang="en-US" sz="1000" b="0" i="0" u="none" strike="noStrike">
                <a:solidFill>
                  <a:srgbClr val="1E2B45"/>
                </a:solidFill>
                <a:latin typeface="Arial"/>
              </a:rPr>
              <a:t>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大盘活跃用户次日付费率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WEY7</c:v>
                </c:pt>
                <c:pt idx="1">
                  <c:v>AFUNMX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11.82</c:v>
                </c:pt>
                <c:pt idx="1">
                  <c:v>27.84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85-41BE-A1C8-B5BD3B7D38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活动用户次日充值率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WEY7</c:v>
                </c:pt>
                <c:pt idx="1">
                  <c:v>AFUNMX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25.6</c:v>
                </c:pt>
                <c:pt idx="1">
                  <c:v>32.78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85-41BE-A1C8-B5BD3B7D388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71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8E09-A028-8934-77AE-262DD8C1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BE6FC-3E08-2173-119D-6D967F493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3301C-CB7E-FFA5-3F8F-978891B96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B6F04-CC70-BAFA-304D-8FCF6CB59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25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243362">
              <a:alpha val="65000"/>
            </a:srgbClr>
          </a:solidFill>
          <a:ln w="12700">
            <a:solidFill>
              <a:srgbClr val="2433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926080"/>
            <a:ext cx="2011680" cy="2011680"/>
          </a:xfrm>
          <a:prstGeom prst="ellipse">
            <a:avLst/>
          </a:prstGeom>
          <a:solidFill>
            <a:srgbClr val="E85C3A">
              <a:alpha val="30000"/>
            </a:srgbClr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活动切换评估报告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7天新手任务  →  </a:t>
            </a:r>
            <a:r>
              <a:rPr lang="en-US" sz="1300" dirty="0" err="1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新人七日签到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42032"/>
            <a:ext cx="2697480" cy="256032"/>
          </a:xfrm>
          <a:prstGeom prst="roundRect">
            <a:avLst>
              <a:gd name="adj" fmla="val 17857"/>
            </a:avLst>
          </a:prstGeom>
          <a:solidFill>
            <a:srgbClr val="243362"/>
          </a:solidFill>
          <a:ln w="12700">
            <a:solidFill>
              <a:srgbClr val="2433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42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数据区间：2026/06/02-06/15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两活动规则对比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明确切换前后的机制差异，作为后续影响评估的基础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412480" cy="40965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对比维度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7天新手任务（现状）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新人七日签到（拟切换）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参与资格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注册新用户即可参与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5C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注册 + 有过充值的新用户才可参与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参与门槛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无需充值，部分任务可用平台赠送金完成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5C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明确要求：只有存款之后才可以进行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活动天数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7天任务（12天有效期）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5C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7天每日签到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每日任务结构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每天有指定任务（投注/绑定/登录/邀请等）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5C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每天签到，条件为当日投注流水 10 MXN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奖励类型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现金奖励（走本金钱包）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5C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道具奖励为主（免费旋转），第7天更多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奖励总价值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 81 MXN / 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5C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 MXN / 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打码倍数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5C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914900"/>
            <a:ext cx="8686800" cy="228600"/>
          </a:xfrm>
          <a:prstGeom prst="roundRect">
            <a:avLst>
              <a:gd name="adj" fmla="val 28000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49606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核心差异：新手任务门槛更低（注册即参与），七日签到门槛更高（需充值）。切换后参与人群从「全部注册新用户」收窄为「有充值的新用户」。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参与率现状分析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新手任务实际参与率 vs 切换后七日签到可触达人群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8600" y="841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现状：新手任务参与漏斗（近14天）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4389120" cy="658368"/>
          </a:xfrm>
          <a:prstGeom prst="roundRect">
            <a:avLst>
              <a:gd name="adj" fmla="val 694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704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近14天注册用户   21,464 人  (100%)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3291840" cy="658368"/>
          </a:xfrm>
          <a:prstGeom prst="roundRect">
            <a:avLst>
              <a:gd name="adj" fmla="val 6944"/>
            </a:avLst>
          </a:prstGeom>
          <a:solidFill>
            <a:srgbClr val="243362"/>
          </a:solidFill>
          <a:ln w="12700">
            <a:solidFill>
              <a:srgbClr val="2433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实际参与新手任务   4,834 人  (22.5%)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2724912"/>
            <a:ext cx="2377440" cy="658368"/>
          </a:xfrm>
          <a:prstGeom prst="roundRect">
            <a:avLst>
              <a:gd name="adj" fmla="val 69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724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其中：有充值的参与用户（新充）   3,567 人  (16.6%)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3502152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5021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无充值仅参与基础任务   1,267 人  (5.9%)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8412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切换后：七日签到可触达人群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1170432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704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近14天注册用户   21,464 人  (100%)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1947672"/>
            <a:ext cx="2926080" cy="658368"/>
          </a:xfrm>
          <a:prstGeom prst="roundRect">
            <a:avLst>
              <a:gd name="adj" fmla="val 6944"/>
            </a:avLst>
          </a:prstGeom>
          <a:solidFill>
            <a:srgbClr val="0A5C52"/>
          </a:solidFill>
          <a:ln w="12700">
            <a:solidFill>
              <a:srgbClr val="0A5C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94767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有充值（可参与七日签到上限）   3,567 人  (16.6%)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1737360"/>
            <a:ext cx="685800" cy="685800"/>
          </a:xfrm>
          <a:prstGeom prst="ellipse">
            <a:avLst/>
          </a:prstGeom>
          <a:solidFill>
            <a:srgbClr val="E85C3A"/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251960"/>
            <a:ext cx="8686800" cy="749808"/>
          </a:xfrm>
          <a:prstGeom prst="roundRect">
            <a:avLst>
              <a:gd name="adj" fmla="val 853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4315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切换后参与人群上限收窄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55371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新手任务：注册即可参与，近14天参与4,834人（占注册22.5%）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七日签到：需充值才可参与，参与上限为近14天新充3,567人（占注册16.6%）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切换后参与人群上限从22.5%降至16.6%，减少约1,267名无充值用户（占参与者26.2%）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活动用户留存行为对比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WEY7新手任务活动用户 vs AFUNMX七日签到活动用户 vs WEY7大盘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5430686"/>
              </p:ext>
            </p:extLst>
          </p:nvPr>
        </p:nvGraphicFramePr>
        <p:xfrm>
          <a:off x="228600" y="868680"/>
          <a:ext cx="50292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40680" y="8961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活动用户次日行为对比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170432"/>
          <a:ext cx="3474720" cy="19659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WEY7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新手任务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AFUNMX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七日签到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WEY7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大盘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次日活跃率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73.88%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72.74%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当日充值率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75.98%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73.78%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次日充值率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32.78%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次日投注率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63.19%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64.97%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28600" y="36576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数据解读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3931920"/>
            <a:ext cx="2834640" cy="1078992"/>
          </a:xfrm>
          <a:prstGeom prst="roundRect">
            <a:avLst>
              <a:gd name="adj" fmla="val 593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38328" y="39959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新手任务活动用户次日充值率 25.6%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38328" y="4297680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远高于WEY7大盘活跃用户次日付费率11.82%（+13.78pp，提升2.2倍），说明新手任务对用户充值有显著激活效果，活动本身是有效的。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00400" y="3931920"/>
            <a:ext cx="2834640" cy="1078992"/>
          </a:xfrm>
          <a:prstGeom prst="roundRect">
            <a:avLst>
              <a:gd name="adj" fmla="val 5932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310128" y="39959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AFUNMX签到活动用户次日充值率 32.78%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310128" y="4297680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绝对值高于WEY7活动用户（+7.18pp），但AFUNMX大盘次日付费率本身就有27.84%，活动相对大盘的提升仅+4.94pp。</a:t>
            </a:r>
            <a:r>
              <a:rPr lang="en-US" sz="8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两平台用户质量基础不同，不能直接将差值归因于活动机制优劣。</a:t>
            </a:r>
            <a:endParaRPr lang="en-US" sz="850" dirty="0">
              <a:solidFill>
                <a:srgbClr val="FF0000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172200" y="3931920"/>
            <a:ext cx="2834640" cy="1078992"/>
          </a:xfrm>
          <a:prstGeom prst="roundRect">
            <a:avLst>
              <a:gd name="adj" fmla="val 593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281928" y="39959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WEY7新手任务7日留存 48.93%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281928" y="4297680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参与新手任务的用户7日后仍有近半数活跃，留存曲线平滑下降，说明活动期间用户粘性较好。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切换影响：参与人群变化与成本测算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基于WEY7近14天实际数据测算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28600" y="9144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9144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成本测算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343400" cy="22783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新手任务（现状）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七日签到（切换）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日均参与人数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~345 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~255 人（上限）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单用户奖励成本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~81 MXN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~177 MXN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日均活动支出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~27,945 MXN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~45,135 MXN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月均活动支出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~838,350 MXN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~1,354,050 MXN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成本增幅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+61%（+17,190 MXN/天）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28600" y="361188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切换面临的核心矛盾</a:t>
            </a:r>
            <a:r>
              <a:rPr lang="zh-CN" alt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0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预计参与人数会下降，成本上升，用户</a:t>
            </a:r>
            <a:r>
              <a:rPr lang="en-US" altLang="zh-CN" sz="1050" b="1" dirty="0" err="1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次日充值率</a:t>
            </a:r>
            <a:r>
              <a:rPr lang="zh-CN" altLang="en-US" sz="105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上升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3886200"/>
            <a:ext cx="2834640" cy="1097280"/>
          </a:xfrm>
          <a:prstGeom prst="roundRect">
            <a:avLst>
              <a:gd name="adj" fmla="val 5833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38328" y="395020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参与人群收窄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38328" y="4224528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七日签到需充值才可参与，参与人群上限从22.5%注册用户降至16.6%（减少1,267人/近14天），26.2%的现有参与者（无充值用户）将被排除在外。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0" y="3886200"/>
            <a:ext cx="2834640" cy="1097280"/>
          </a:xfrm>
          <a:prstGeom prst="roundRect">
            <a:avLst>
              <a:gd name="adj" fmla="val 5833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310128" y="395020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成本显著上升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10128" y="4224528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奖励成本从81 MXN涨至177 MXN（+118%），但参与人数减少，日均支出仍增加约61%（+17,190 MXN/天），月均多支出约515,700 MXN。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72200" y="3886200"/>
            <a:ext cx="2834640" cy="1097280"/>
          </a:xfrm>
          <a:prstGeom prst="roundRect">
            <a:avLst>
              <a:gd name="adj" fmla="val 583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281928" y="395020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用户质量更集中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281928" y="4224528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切换后参与者全部为有充值行为的新用户，用户质量更高，参考AFUNMX签到活动次日充值率32.78%，但能否在WEY7复现需实测验证。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AFUNMX数据参考的正确解读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600" y="423125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9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用户质量不一致，</a:t>
            </a:r>
            <a:r>
              <a:rPr lang="en-US" altLang="zh-CN" sz="950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不能直接套用，但可作为方向性参考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关键视角：活动相对于大盘的提升效果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78992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078992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50408" y="114300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活动提升效果更强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550408" y="1435608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WEY7新手任务使活动用户次日充值率达25.6%，较大盘11.82%提升+13.78pp（2.2倍）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AFUNMX签到活动使活动用户次日充值率达32.78%，较大盘27.84%提升+4.94pp（1.18倍）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相对提升幅度：WEY7新手任务更优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40680" y="2313432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50408" y="23774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绝对值差距来自平台基础，不代表活动优劣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50408" y="2670048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AFUNMX大盘次日付费率27.84%，本身就远高于WEY7大盘11.82%。两平台用户质量、产品成熟度差异悬殊（日活相差55倍），不能用AFUNMX活动用户数据直接预测WEY7切换后效果。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40680" y="3547872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50408" y="361188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次日充值率差距7.18pp的成因待厘清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50408" y="3904488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WEY7活动用户次日充值率25.6% vs AFUNMX签到活动32.78%，差7.18pp。这个差距究竟有多少来自活动机制本身，多少来自平台用户基础差异，目前无法拆解，需A/B测试才能得出结论。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E0FF-5BC5-43D9-B326-EB2C8C9A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F73C26-9DC4-E72F-BACD-8D92594C375A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B35C0A-8765-6CE9-50B1-697698E55FF3}"/>
              </a:ext>
            </a:extLst>
          </p:cNvPr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AFUNMX数据参考的正确解读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253B0D-5E39-A6D0-5842-95117F78B551}"/>
              </a:ext>
            </a:extLst>
          </p:cNvPr>
          <p:cNvSpPr/>
          <p:nvPr/>
        </p:nvSpPr>
        <p:spPr>
          <a:xfrm>
            <a:off x="228600" y="423125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9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用户质量不一致，</a:t>
            </a:r>
            <a:r>
              <a:rPr lang="en-US" altLang="zh-CN" sz="950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不能直接套用，但可作为方向性参考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0B0206-3BB6-FFC7-B1D5-E887CB3E19E1}"/>
              </a:ext>
            </a:extLst>
          </p:cNvPr>
          <p:cNvSpPr/>
          <p:nvPr/>
        </p:nvSpPr>
        <p:spPr>
          <a:xfrm>
            <a:off x="228600" y="80467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关键视角：活动相对于大盘的提升效果</a:t>
            </a:r>
            <a:endParaRPr lang="en-US" sz="11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F802FFD4-F5E5-9B63-23EA-FC9F11513E85}"/>
              </a:ext>
            </a:extLst>
          </p:cNvPr>
          <p:cNvGraphicFramePr/>
          <p:nvPr/>
        </p:nvGraphicFramePr>
        <p:xfrm>
          <a:off x="228600" y="1078992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B9BC1DE1-B70A-4695-C028-B7B831BEE35E}"/>
              </a:ext>
            </a:extLst>
          </p:cNvPr>
          <p:cNvSpPr/>
          <p:nvPr/>
        </p:nvSpPr>
        <p:spPr>
          <a:xfrm>
            <a:off x="5440680" y="1078992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0A57C48-7431-F990-0F01-0C621EE68451}"/>
              </a:ext>
            </a:extLst>
          </p:cNvPr>
          <p:cNvSpPr/>
          <p:nvPr/>
        </p:nvSpPr>
        <p:spPr>
          <a:xfrm>
            <a:off x="5550408" y="114300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 活动提升效果更强</a:t>
            </a:r>
            <a:endParaRPr lang="en-US" sz="9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AB3929C-11EF-BA82-8CA3-0CA94054CA22}"/>
              </a:ext>
            </a:extLst>
          </p:cNvPr>
          <p:cNvSpPr/>
          <p:nvPr/>
        </p:nvSpPr>
        <p:spPr>
          <a:xfrm>
            <a:off x="5550408" y="1435608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WEY7新手任务使活动用户次日充值率达25.6%，较大盘11.82%提升+13.78pp（2.2倍）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AFUNMX签到活动使活动用户次日充值率达32.78%，较大盘27.84%提升+4.94pp（1.18倍）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相对提升幅度：WEY7新手任务更优</a:t>
            </a:r>
            <a:endParaRPr lang="en-US" sz="8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8A615A3-7CD0-C362-0F8F-3262323A7F1B}"/>
              </a:ext>
            </a:extLst>
          </p:cNvPr>
          <p:cNvSpPr/>
          <p:nvPr/>
        </p:nvSpPr>
        <p:spPr>
          <a:xfrm>
            <a:off x="5440680" y="2313432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8F393D8-5372-FB56-3D6F-DCDF15B0B8D2}"/>
              </a:ext>
            </a:extLst>
          </p:cNvPr>
          <p:cNvSpPr/>
          <p:nvPr/>
        </p:nvSpPr>
        <p:spPr>
          <a:xfrm>
            <a:off x="5550408" y="23774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绝对值差距来自平台基础，不代表活动优劣</a:t>
            </a:r>
            <a:endParaRPr lang="en-US" sz="9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1F744D9-6C17-2D53-A629-3F7D0648A03C}"/>
              </a:ext>
            </a:extLst>
          </p:cNvPr>
          <p:cNvSpPr/>
          <p:nvPr/>
        </p:nvSpPr>
        <p:spPr>
          <a:xfrm>
            <a:off x="5550408" y="2670048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AFUNMX大盘次日付费率27.84%，本身就远高于WEY7大盘11.82%。两平台用户质量、产品成熟度差异悬殊（日活相差55倍），不能用AFUNMX活动用户数据直接预测WEY7切换后效果。</a:t>
            </a:r>
            <a:endParaRPr lang="en-US" sz="8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0DBD27A-AE61-0721-6EF0-85E609978A3E}"/>
              </a:ext>
            </a:extLst>
          </p:cNvPr>
          <p:cNvSpPr/>
          <p:nvPr/>
        </p:nvSpPr>
        <p:spPr>
          <a:xfrm>
            <a:off x="5440680" y="3547872"/>
            <a:ext cx="3474720" cy="1115568"/>
          </a:xfrm>
          <a:prstGeom prst="roundRect">
            <a:avLst>
              <a:gd name="adj" fmla="val 5738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3651F01-9801-33FD-AF04-989F201B05D4}"/>
              </a:ext>
            </a:extLst>
          </p:cNvPr>
          <p:cNvSpPr/>
          <p:nvPr/>
        </p:nvSpPr>
        <p:spPr>
          <a:xfrm>
            <a:off x="5550408" y="361188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次日充值率差距7.18pp的成因待厘清</a:t>
            </a:r>
            <a:endParaRPr lang="en-US" sz="9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54800FB-F830-459C-D114-84C81F84ED82}"/>
              </a:ext>
            </a:extLst>
          </p:cNvPr>
          <p:cNvSpPr/>
          <p:nvPr/>
        </p:nvSpPr>
        <p:spPr>
          <a:xfrm>
            <a:off x="5550408" y="3904488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WEY7活动用户次日充值率25.6% vs AFUNMX签到活动32.78%，差7.18pp。这个差距究竟有多少来自活动机制本身，多少来自平台用户基础差异，目前无法拆解，需A/B测试才能得出结论。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4225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综合评估与建议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777240"/>
          </a:xfrm>
          <a:prstGeom prst="roundRect">
            <a:avLst>
              <a:gd name="adj" fmla="val 8235"/>
            </a:avLst>
          </a:prstGeom>
          <a:solidFill>
            <a:srgbClr val="1C3A5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评估结论：不建议直接切换，建议先A/B测试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切换后参与人群收窄、成本上升61%，而七日签到能否改善次日充值率缺乏WEY7实测数据支撑。现有新手任务对用户的激活效果（</a:t>
            </a:r>
            <a:r>
              <a:rPr lang="zh-CN" altLang="en-US" sz="9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活动用户次日充值留存</a:t>
            </a:r>
            <a:r>
              <a:rPr lang="en-US" sz="950" dirty="0" err="1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相对大盘</a:t>
            </a:r>
            <a:r>
              <a:rPr lang="zh-CN" altLang="en-US" sz="9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r>
              <a:rPr lang="en-US" sz="95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2.2倍）已经较好，贸然切换存在较大不确定性。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4251960" cy="1389888"/>
          </a:xfrm>
          <a:prstGeom prst="roundRect">
            <a:avLst>
              <a:gd name="adj" fmla="val 4605"/>
            </a:avLst>
          </a:prstGeom>
          <a:solidFill>
            <a:srgbClr val="1E2F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78308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78308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209397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200" b="1" dirty="0">
                <a:solidFill>
                  <a:schemeClr val="bg1"/>
                </a:solidFill>
              </a:rPr>
              <a:t>参与人数会减少（确定性影响）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68296"/>
            <a:ext cx="4032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900" dirty="0">
                <a:solidFill>
                  <a:srgbClr val="8BA3C7"/>
                </a:solidFill>
                <a:latin typeface="Arial" pitchFamily="34" charset="0"/>
                <a:cs typeface="Arial" pitchFamily="34" charset="-120"/>
              </a:rPr>
              <a:t>现在新手任务近14天参与4,834人，切换到七日签到后上限是3,567人（新充用户），减少约1,267人。这部分是注册但未充值的用户，他们原本能完成绑定邮箱、APP登录等基础任务，切换后直接失去参与机会。</a:t>
            </a:r>
            <a:endParaRPr lang="en-US" sz="900" dirty="0">
              <a:solidFill>
                <a:srgbClr val="8BA3C7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09160" y="1691640"/>
            <a:ext cx="4251960" cy="1389888"/>
          </a:xfrm>
          <a:prstGeom prst="roundRect">
            <a:avLst>
              <a:gd name="adj" fmla="val 4605"/>
            </a:avLst>
          </a:prstGeom>
          <a:solidFill>
            <a:srgbClr val="1E2F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78308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78308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18888" y="209397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200" b="1" dirty="0">
                <a:solidFill>
                  <a:schemeClr val="bg1"/>
                </a:solidFill>
              </a:rPr>
              <a:t>成本上升61%（确定性影响）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18888" y="2368296"/>
            <a:ext cx="4032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900" dirty="0">
                <a:solidFill>
                  <a:srgbClr val="8BA3C7"/>
                </a:solidFill>
                <a:latin typeface="Arial" pitchFamily="34" charset="0"/>
                <a:cs typeface="Arial" pitchFamily="34" charset="-120"/>
              </a:rPr>
              <a:t>日均支出从约27,945 MXN升至约45,135 MXN，月均多支出约515,700 MXN。参与人数反而更少，每个参与用户的平均</a:t>
            </a:r>
            <a:r>
              <a:rPr lang="zh-CN" altLang="en-US" sz="900" dirty="0">
                <a:solidFill>
                  <a:srgbClr val="8BA3C7"/>
                </a:solidFill>
                <a:latin typeface="Arial" pitchFamily="34" charset="0"/>
                <a:cs typeface="Arial" pitchFamily="34" charset="-120"/>
              </a:rPr>
              <a:t>上限</a:t>
            </a:r>
            <a:r>
              <a:rPr lang="zh-CN" altLang="zh-CN" sz="900" dirty="0">
                <a:solidFill>
                  <a:srgbClr val="8BA3C7"/>
                </a:solidFill>
                <a:latin typeface="Arial" pitchFamily="34" charset="0"/>
                <a:cs typeface="Arial" pitchFamily="34" charset="-120"/>
              </a:rPr>
              <a:t>成本从81 MXN涨到177 MXN，性价比下降</a:t>
            </a:r>
            <a:r>
              <a:rPr lang="zh-CN" altLang="zh-CN" sz="900" dirty="0"/>
              <a:t>。</a:t>
            </a:r>
            <a:r>
              <a:rPr lang="en-US" sz="900" dirty="0">
                <a:solidFill>
                  <a:srgbClr val="8B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200400"/>
            <a:ext cx="4251960" cy="1389888"/>
          </a:xfrm>
          <a:prstGeom prst="roundRect">
            <a:avLst>
              <a:gd name="adj" fmla="val 4605"/>
            </a:avLst>
          </a:prstGeom>
          <a:solidFill>
            <a:srgbClr val="1E2F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" y="329184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5C3A"/>
          </a:solidFill>
          <a:ln w="12700">
            <a:solidFill>
              <a:srgbClr val="E85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29184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328" y="360273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1200" b="1" dirty="0">
                <a:solidFill>
                  <a:schemeClr val="bg1"/>
                </a:solidFill>
              </a:rPr>
              <a:t>次日充值率能否提升（不确定）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8328" y="3877056"/>
            <a:ext cx="4032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900" dirty="0">
                <a:solidFill>
                  <a:srgbClr val="8BA3C7"/>
                </a:solidFill>
                <a:latin typeface="Arial" pitchFamily="34" charset="0"/>
                <a:cs typeface="Arial" pitchFamily="34" charset="-120"/>
              </a:rPr>
              <a:t>这是切换的潜在收益，参考AFUNMX签到活动32.78% vs WEY7新手任务25.6%，理论上有+7.18pp的提升空间。</a:t>
            </a:r>
            <a:r>
              <a:rPr lang="zh-CN" altLang="en-US" sz="900" dirty="0">
                <a:solidFill>
                  <a:srgbClr val="8BA3C7"/>
                </a:solidFill>
                <a:latin typeface="Arial" pitchFamily="34" charset="0"/>
                <a:cs typeface="Arial" pitchFamily="34" charset="-120"/>
              </a:rPr>
              <a:t>加上付费用户的粘性一般比非付费用户高，理论上活动用户的次日充值率会提高</a:t>
            </a:r>
            <a:endParaRPr lang="en-US" sz="900" dirty="0">
              <a:solidFill>
                <a:srgbClr val="8BA3C7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09160" y="3200400"/>
            <a:ext cx="4251960" cy="1389888"/>
          </a:xfrm>
          <a:prstGeom prst="roundRect">
            <a:avLst>
              <a:gd name="adj" fmla="val 4605"/>
            </a:avLst>
          </a:prstGeom>
          <a:solidFill>
            <a:srgbClr val="1E2F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8888" y="329184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29184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18888" y="360273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18888" y="3662172"/>
            <a:ext cx="405079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sz="900" dirty="0">
                <a:solidFill>
                  <a:srgbClr val="C00000"/>
                </a:solidFill>
                <a:highlight>
                  <a:srgbClr val="FFFF00"/>
                </a:highlight>
                <a:latin typeface="Arial" pitchFamily="34" charset="0"/>
                <a:cs typeface="Arial" pitchFamily="34" charset="-120"/>
              </a:rPr>
              <a:t>直接切换的确定性损失是参与人数减少+成本上升，潜在收益是</a:t>
            </a:r>
            <a:r>
              <a:rPr lang="zh-CN" altLang="en-US" sz="900" dirty="0">
                <a:solidFill>
                  <a:srgbClr val="C00000"/>
                </a:solidFill>
                <a:highlight>
                  <a:srgbClr val="FFFF00"/>
                </a:highlight>
                <a:latin typeface="Arial" pitchFamily="34" charset="0"/>
                <a:cs typeface="Arial" pitchFamily="34" charset="-120"/>
              </a:rPr>
              <a:t>活动用户参与率、留存和</a:t>
            </a:r>
            <a:r>
              <a:rPr lang="en-US" altLang="zh-CN" sz="900" dirty="0">
                <a:solidFill>
                  <a:srgbClr val="C00000"/>
                </a:solidFill>
                <a:highlight>
                  <a:srgbClr val="FFFF00"/>
                </a:highlight>
                <a:latin typeface="Arial" pitchFamily="34" charset="0"/>
                <a:cs typeface="Arial" pitchFamily="34" charset="-120"/>
              </a:rPr>
              <a:t>ARPPU</a:t>
            </a:r>
            <a:r>
              <a:rPr lang="zh-CN" altLang="zh-CN" sz="900" dirty="0">
                <a:solidFill>
                  <a:srgbClr val="C00000"/>
                </a:solidFill>
                <a:highlight>
                  <a:srgbClr val="FFFF00"/>
                </a:highlight>
                <a:latin typeface="Arial" pitchFamily="34" charset="0"/>
                <a:cs typeface="Arial" pitchFamily="34" charset="-120"/>
              </a:rPr>
              <a:t>提升。如果对成本上升可以接受，且主要目标是提升有充值行为用户的留存质量，直接切换的风险是可控的。如果对ROI比较敏感，建议还是先测试</a:t>
            </a:r>
            <a:endParaRPr lang="en-US" sz="9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7" name="Text 16"/>
          <p:cNvSpPr/>
          <p:nvPr/>
        </p:nvSpPr>
        <p:spPr>
          <a:xfrm>
            <a:off x="5239512" y="33055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决策前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1007</Words>
  <Application>Microsoft Office PowerPoint</Application>
  <PresentationFormat>全屏显示(16:9)</PresentationFormat>
  <Paragraphs>154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2</cp:revision>
  <dcterms:created xsi:type="dcterms:W3CDTF">2026-06-16T12:47:45Z</dcterms:created>
  <dcterms:modified xsi:type="dcterms:W3CDTF">2026-06-16T13:14:40Z</dcterms:modified>
</cp:coreProperties>
</file>