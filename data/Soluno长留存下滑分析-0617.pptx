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D7复充率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4/28</c:v>
                </c:pt>
                <c:pt idx="1">
                  <c:v>4/30</c:v>
                </c:pt>
                <c:pt idx="2">
                  <c:v>5/2</c:v>
                </c:pt>
                <c:pt idx="3">
                  <c:v>5/4</c:v>
                </c:pt>
                <c:pt idx="4">
                  <c:v>5/6</c:v>
                </c:pt>
                <c:pt idx="5">
                  <c:v>5/8</c:v>
                </c:pt>
                <c:pt idx="6">
                  <c:v>5/10</c:v>
                </c:pt>
                <c:pt idx="7">
                  <c:v>5/12</c:v>
                </c:pt>
                <c:pt idx="8">
                  <c:v>5/14</c:v>
                </c:pt>
                <c:pt idx="9">
                  <c:v>5/16</c:v>
                </c:pt>
                <c:pt idx="10">
                  <c:v>5/18</c:v>
                </c:pt>
                <c:pt idx="11">
                  <c:v>5/20</c:v>
                </c:pt>
                <c:pt idx="12">
                  <c:v>5/22</c:v>
                </c:pt>
                <c:pt idx="13">
                  <c:v>5/24</c:v>
                </c:pt>
                <c:pt idx="14">
                  <c:v>5/26</c:v>
                </c:pt>
                <c:pt idx="15">
                  <c:v>5/28</c:v>
                </c:pt>
                <c:pt idx="16">
                  <c:v>5/30</c:v>
                </c:pt>
                <c:pt idx="17">
                  <c:v>6/1</c:v>
                </c:pt>
                <c:pt idx="18">
                  <c:v>6/3</c:v>
                </c:pt>
                <c:pt idx="19">
                  <c:v>6/5</c:v>
                </c:pt>
                <c:pt idx="20">
                  <c:v>6/7</c:v>
                </c:pt>
                <c:pt idx="21">
                  <c:v>6/9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13.74</c:v>
                </c:pt>
                <c:pt idx="1">
                  <c:v>10.06</c:v>
                </c:pt>
                <c:pt idx="2">
                  <c:v>12.7</c:v>
                </c:pt>
                <c:pt idx="3">
                  <c:v>11.56</c:v>
                </c:pt>
                <c:pt idx="4">
                  <c:v>11.11</c:v>
                </c:pt>
                <c:pt idx="5">
                  <c:v>8.35</c:v>
                </c:pt>
                <c:pt idx="6">
                  <c:v>9.48</c:v>
                </c:pt>
                <c:pt idx="7">
                  <c:v>6.84</c:v>
                </c:pt>
                <c:pt idx="8">
                  <c:v>6.08</c:v>
                </c:pt>
                <c:pt idx="9">
                  <c:v>5.36</c:v>
                </c:pt>
                <c:pt idx="10">
                  <c:v>4.45</c:v>
                </c:pt>
                <c:pt idx="11">
                  <c:v>13</c:v>
                </c:pt>
                <c:pt idx="12">
                  <c:v>9.41</c:v>
                </c:pt>
                <c:pt idx="13">
                  <c:v>11.04</c:v>
                </c:pt>
                <c:pt idx="14">
                  <c:v>5.29</c:v>
                </c:pt>
                <c:pt idx="15">
                  <c:v>5.98</c:v>
                </c:pt>
                <c:pt idx="16">
                  <c:v>8.9600000000000009</c:v>
                </c:pt>
                <c:pt idx="17">
                  <c:v>7.34</c:v>
                </c:pt>
                <c:pt idx="18">
                  <c:v>8.77</c:v>
                </c:pt>
                <c:pt idx="19">
                  <c:v>6.86</c:v>
                </c:pt>
                <c:pt idx="20">
                  <c:v>6.8</c:v>
                </c:pt>
                <c:pt idx="21">
                  <c:v>3.57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C1-43CD-961C-847963860A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基准11%</c:v>
                </c:pt>
              </c:strCache>
            </c:strRef>
          </c:tx>
          <c:spPr>
            <a:ln w="25400" cap="flat">
              <a:solidFill>
                <a:srgbClr val="E84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4A5F"/>
              </a:solidFill>
              <a:ln w="9525" cap="flat">
                <a:solidFill>
                  <a:srgbClr val="E84A5F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4/28</c:v>
                </c:pt>
                <c:pt idx="1">
                  <c:v>4/30</c:v>
                </c:pt>
                <c:pt idx="2">
                  <c:v>5/2</c:v>
                </c:pt>
                <c:pt idx="3">
                  <c:v>5/4</c:v>
                </c:pt>
                <c:pt idx="4">
                  <c:v>5/6</c:v>
                </c:pt>
                <c:pt idx="5">
                  <c:v>5/8</c:v>
                </c:pt>
                <c:pt idx="6">
                  <c:v>5/10</c:v>
                </c:pt>
                <c:pt idx="7">
                  <c:v>5/12</c:v>
                </c:pt>
                <c:pt idx="8">
                  <c:v>5/14</c:v>
                </c:pt>
                <c:pt idx="9">
                  <c:v>5/16</c:v>
                </c:pt>
                <c:pt idx="10">
                  <c:v>5/18</c:v>
                </c:pt>
                <c:pt idx="11">
                  <c:v>5/20</c:v>
                </c:pt>
                <c:pt idx="12">
                  <c:v>5/22</c:v>
                </c:pt>
                <c:pt idx="13">
                  <c:v>5/24</c:v>
                </c:pt>
                <c:pt idx="14">
                  <c:v>5/26</c:v>
                </c:pt>
                <c:pt idx="15">
                  <c:v>5/28</c:v>
                </c:pt>
                <c:pt idx="16">
                  <c:v>5/30</c:v>
                </c:pt>
                <c:pt idx="17">
                  <c:v>6/1</c:v>
                </c:pt>
                <c:pt idx="18">
                  <c:v>6/3</c:v>
                </c:pt>
                <c:pt idx="19">
                  <c:v>6/5</c:v>
                </c:pt>
                <c:pt idx="20">
                  <c:v>6/7</c:v>
                </c:pt>
                <c:pt idx="21">
                  <c:v>6/9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  <c:pt idx="20">
                  <c:v>11</c:v>
                </c:pt>
                <c:pt idx="21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C1-43CD-961C-847963860A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8EF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D2复充率</c:v>
                </c:pt>
              </c:strCache>
            </c:strRef>
          </c:tx>
          <c:spPr>
            <a:solidFill>
              <a:srgbClr val="4C9BE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官方总代</c:v>
                </c:pt>
                <c:pt idx="1">
                  <c:v>总代5 TFQQ</c:v>
                </c:pt>
                <c:pt idx="2">
                  <c:v>总代4 TFAD</c:v>
                </c:pt>
                <c:pt idx="3">
                  <c:v>总代6 TFXH</c:v>
                </c:pt>
                <c:pt idx="4">
                  <c:v>总代7 TFAS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25.2</c:v>
                </c:pt>
                <c:pt idx="1">
                  <c:v>22.8</c:v>
                </c:pt>
                <c:pt idx="2">
                  <c:v>20.8</c:v>
                </c:pt>
                <c:pt idx="3">
                  <c:v>24.3</c:v>
                </c:pt>
                <c:pt idx="4">
                  <c:v>22.7</c:v>
                </c:pt>
                <c:pt idx="5">
                  <c:v>17.7</c:v>
                </c:pt>
                <c:pt idx="6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63-4775-B2B9-92B0A733AD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D7复充率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官方总代</c:v>
                </c:pt>
                <c:pt idx="1">
                  <c:v>总代5 TFQQ</c:v>
                </c:pt>
                <c:pt idx="2">
                  <c:v>总代4 TFAD</c:v>
                </c:pt>
                <c:pt idx="3">
                  <c:v>总代6 TFXH</c:v>
                </c:pt>
                <c:pt idx="4">
                  <c:v>总代7 TFAS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10.1</c:v>
                </c:pt>
                <c:pt idx="2">
                  <c:v>7.9</c:v>
                </c:pt>
                <c:pt idx="3">
                  <c:v>8.9</c:v>
                </c:pt>
                <c:pt idx="4">
                  <c:v>9.5</c:v>
                </c:pt>
                <c:pt idx="5">
                  <c:v>4.2</c:v>
                </c:pt>
                <c:pt idx="6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63-4775-B2B9-92B0A733AD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D14复充率</c:v>
                </c:pt>
              </c:strCache>
            </c:strRef>
          </c:tx>
          <c:spPr>
            <a:solidFill>
              <a:srgbClr val="E84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官方总代</c:v>
                </c:pt>
                <c:pt idx="1">
                  <c:v>总代5 TFQQ</c:v>
                </c:pt>
                <c:pt idx="2">
                  <c:v>总代4 TFAD</c:v>
                </c:pt>
                <c:pt idx="3">
                  <c:v>总代6 TFXH</c:v>
                </c:pt>
                <c:pt idx="4">
                  <c:v>总代7 TFAS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6.4</c:v>
                </c:pt>
                <c:pt idx="1">
                  <c:v>6.3</c:v>
                </c:pt>
                <c:pt idx="2">
                  <c:v>4.5999999999999996</c:v>
                </c:pt>
                <c:pt idx="3">
                  <c:v>5.5</c:v>
                </c:pt>
                <c:pt idx="4">
                  <c:v>5.5</c:v>
                </c:pt>
                <c:pt idx="5">
                  <c:v>2.8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63-4775-B2B9-92B0A733A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8EF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后期D7复充率</c:v>
                </c:pt>
              </c:strCache>
            </c:strRef>
          </c:tx>
          <c:spPr>
            <a:solidFill>
              <a:srgbClr val="2CB67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2D-4D7E-BB7D-123B1EAE9ED5}"/>
              </c:ext>
            </c:extLst>
          </c:dPt>
          <c:dPt>
            <c:idx val="1"/>
            <c:invertIfNegative val="0"/>
            <c:bubble3D val="0"/>
            <c:spPr>
              <a:solidFill>
                <a:srgbClr val="2C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2D-4D7E-BB7D-123B1EAE9ED5}"/>
              </c:ext>
            </c:extLst>
          </c:dPt>
          <c:dPt>
            <c:idx val="2"/>
            <c:invertIfNegative val="0"/>
            <c:bubble3D val="0"/>
            <c:spPr>
              <a:solidFill>
                <a:srgbClr val="2C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2D-4D7E-BB7D-123B1EAE9ED5}"/>
              </c:ext>
            </c:extLst>
          </c:dPt>
          <c:dPt>
            <c:idx val="3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2D-4D7E-BB7D-123B1EAE9ED5}"/>
              </c:ext>
            </c:extLst>
          </c:dPt>
          <c:dPt>
            <c:idx val="4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2D-4D7E-BB7D-123B1EAE9ED5}"/>
              </c:ext>
            </c:extLst>
          </c:dPt>
          <c:dPt>
            <c:idx val="5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C2D-4D7E-BB7D-123B1EAE9ED5}"/>
              </c:ext>
            </c:extLst>
          </c:dPt>
          <c:dPt>
            <c:idx val="6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C2D-4D7E-BB7D-123B1EAE9E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总代7 TFAS</c:v>
                </c:pt>
                <c:pt idx="1">
                  <c:v>官方总代</c:v>
                </c:pt>
                <c:pt idx="2">
                  <c:v>总代5 TFQQ</c:v>
                </c:pt>
                <c:pt idx="3">
                  <c:v>总代4 TFAD</c:v>
                </c:pt>
                <c:pt idx="4">
                  <c:v>总代6 TFXH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9.4</c:v>
                </c:pt>
                <c:pt idx="1">
                  <c:v>9.5</c:v>
                </c:pt>
                <c:pt idx="2">
                  <c:v>8.3000000000000007</c:v>
                </c:pt>
                <c:pt idx="3">
                  <c:v>6.6</c:v>
                </c:pt>
                <c:pt idx="4">
                  <c:v>6</c:v>
                </c:pt>
                <c:pt idx="5">
                  <c:v>6.9</c:v>
                </c:pt>
                <c:pt idx="6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C2D-4D7E-BB7D-123B1EAE9E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E8EF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36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SOLUNO  长留存下滑根因分析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数据区间：2026-04-28 ～ 2026-06-09 | 总体 D7 复充率基准 11%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一、流量结构突变：两个问题总代同期爆量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下滑期总体D7复充率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正常期~11% ▼ 4.1pct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 总代1(DP) 占量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D7仅4.0% | 消耗$54,848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 总代2(XZ) 占量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D7仅2.5% | 消耗$20,940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379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-2.75pct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379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两者联合拉低D7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若达基准可还原至~9.7%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总体每日 D7 复充率走势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2761488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2788920" y="2880360"/>
            <a:ext cx="1005840" cy="292608"/>
          </a:xfrm>
          <a:prstGeom prst="rect">
            <a:avLst/>
          </a:prstGeom>
          <a:solidFill>
            <a:srgbClr val="E84A5F">
              <a:alpha val="85000"/>
            </a:srgbClr>
          </a:solidFill>
          <a:ln w="6350">
            <a:solidFill>
              <a:srgbClr val="E84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2880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 总代1爆量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7784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 D7复充率对比（各阶段加权平均）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761488"/>
          <a:ext cx="3520440" cy="20848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正常期D7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下滑期D7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下滑期占量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总代7 TFAS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4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总代4 TFAD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总代6 TFXH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4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⚑ 总代1 DP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4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 ↑↑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⚑ 总代2 XZ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FFF3F4"/>
          </a:solidFill>
          <a:ln w="10160">
            <a:solidFill>
              <a:srgbClr val="E84A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关键结论：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总代1(DP)于5月8日起消耗从每日$1,800急增至$9,360（峰值），同步带入大量低质用户；总代2(XZ)5月13日跟进放量，两者合计贡献下滑期近47%流量，D7分别仅4.0%/2.5%，是本轮下滑的直接元凶。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SOLUNO  长留存下滑根因分析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数据区间：2026-04-28 ～ 2026-06-09 | 总体 D7 复充率基准 11%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二、全留存层级均受损，后期仍未恢复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各总代全期平均留存率（D2 / D7 / D14，推广报表口径）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82880" y="1828800"/>
          <a:ext cx="48463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166360" y="1572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后期（5/19–6/9）新增拖累：总代4 &amp; 6 质量下滑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424396814"/>
              </p:ext>
            </p:extLst>
          </p:nvPr>
        </p:nvGraphicFramePr>
        <p:xfrm>
          <a:off x="5029200" y="1828800"/>
          <a:ext cx="3886200" cy="274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029200" y="2542032"/>
            <a:ext cx="3886200" cy="0"/>
          </a:xfrm>
          <a:prstGeom prst="line">
            <a:avLst/>
          </a:prstGeom>
          <a:noFill/>
          <a:ln w="15240">
            <a:solidFill>
              <a:srgbClr val="E84A5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8366760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 11%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20040" y="4645152"/>
            <a:ext cx="8503920" cy="43891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" y="4663440"/>
            <a:ext cx="8503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综合判断：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留存问题贯穿 D2→D7→D14 全链路，并非偶发。总代1/2 带入用户首充ARPPU极低（$6~7）、D2复充仅17%，显示为薅活动羊毛或低意向流量。后期总代4(TFAD)、总代6(TFXH) D7也从正常期10.5%/11.0%降至6.6%/6.0%，亟需排查各自渠道质量变化。总代7(TFAS) 7日ROI为负，需关注大体量消耗下的整体回收效率。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SOLUNO  长留存下滑根因分析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数据区间：2026-04-28 ～ 2026-06-09 | 总体 D7 复充率基准 11%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三、成因推断与下一步建议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93392"/>
            <a:ext cx="6675120" cy="0"/>
          </a:xfrm>
          <a:prstGeom prst="line">
            <a:avLst/>
          </a:prstGeom>
          <a:noFill/>
          <a:ln w="12700">
            <a:solidFill>
              <a:srgbClr val="AAB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1865376"/>
            <a:ext cx="329184" cy="256032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4/28–5/7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C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231136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D7≈11%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各总代质量均衡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消耗主要集中TFAS/TFXH/TFQQ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78808" y="1865376"/>
            <a:ext cx="329184" cy="256032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5/8–5/18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19456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2231136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D7跌至6.9%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总代1日消耗从$1.8k→$9.4k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总代2跟进放量，两者占量47%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22008" y="1865376"/>
            <a:ext cx="329184" cy="256032"/>
          </a:xfrm>
          <a:prstGeom prst="ellipse">
            <a:avLst/>
          </a:prstGeom>
          <a:solidFill>
            <a:srgbClr val="F4A443"/>
          </a:solidFill>
          <a:ln w="12700">
            <a:solidFill>
              <a:srgbClr val="F4A4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5/19–6/9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2231136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D7维持6~8%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总代1/2流量收缩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但总代4、6质量同步下滑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27248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FF5F5"/>
          </a:solidFill>
          <a:ln w="10160">
            <a:solidFill>
              <a:srgbClr val="FBBC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成因推断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74720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总代1/2 渠道切换：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5/8前日均首充&lt;50人，5/8后瞬间放量10倍，</a:t>
            </a:r>
            <a:r>
              <a:rPr lang="zh-CN" alt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短信用户留存差，在</a:t>
            </a:r>
            <a:r>
              <a:rPr lang="en-US" altLang="zh-CN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zh-CN" alt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</a:t>
            </a:r>
            <a:r>
              <a:rPr lang="en-US" altLang="zh-CN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zh-CN" alt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号开始已经缩量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低意向用户特征：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首充ARPPU $6-7（其他总代$8-15），D2复充仅17-18%，用户在赠送耗尽后即流失。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后期质量传导：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总代4/6 或因活动结构调整后同样引入非自然意向用户，D7从11%降至6-7%。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127248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82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建议措施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474720"/>
            <a:ext cx="4023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zh-CN" alt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总代4/6 渠道复盘：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排查后期（5/19后）</a:t>
            </a:r>
            <a:r>
              <a:rPr lang="zh-CN" alt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的刷子和一次性用户占比</a:t>
            </a:r>
            <a:endParaRPr lang="en-US" altLang="zh-CN" sz="95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zh-CN" alt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建立留存预警机制：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对各总代设置滚动7天D2≥20% / D7≥9%的质量红线，跌破即触发审核流程。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00016"/>
            <a:ext cx="914400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0016"/>
            <a:ext cx="841248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本轮下滑不是整体用户质量问题，而是特定总代大量引入的低意向流量短期稀释了留存。量大+质差的组合在D7/D14留存中放大为盘面整体失速，需以总代维度做精细化治理，而非全盘收缩投放。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468</Words>
  <Application>Microsoft Office PowerPoint</Application>
  <PresentationFormat>全屏显示(16:9)</PresentationFormat>
  <Paragraphs>80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Soluno 长留存下滑分析</dc:title>
  <dc:subject>PptxGenJS Presentation</dc:subject>
  <dc:creator>PptxGenJS</dc:creator>
  <cp:lastModifiedBy>Administrator</cp:lastModifiedBy>
  <cp:revision>3</cp:revision>
  <dcterms:created xsi:type="dcterms:W3CDTF">2026-06-17T06:13:30Z</dcterms:created>
  <dcterms:modified xsi:type="dcterms:W3CDTF">2026-06-17T06:32:09Z</dcterms:modified>
</cp:coreProperties>
</file>