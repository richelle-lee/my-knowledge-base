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zh-CN" altLang="en-US" sz="1000" b="0" i="0" u="none" strike="noStrike">
                <a:solidFill>
                  <a:srgbClr val="1E293B"/>
                </a:solidFill>
                <a:latin typeface="Arial"/>
              </a:rPr>
              <a:t>日均真实消耗 </a:t>
            </a:r>
            <a:r>
              <a:rPr lang="en-US" altLang="zh-CN" sz="1000" b="0" i="0" u="none" strike="noStrike">
                <a:solidFill>
                  <a:srgbClr val="1E293B"/>
                </a:solidFill>
                <a:latin typeface="Arial"/>
              </a:rPr>
              <a:t>vs </a:t>
            </a:r>
            <a:r>
              <a:rPr lang="zh-CN" altLang="en-US" sz="1000" b="0" i="0" u="none" strike="noStrike">
                <a:solidFill>
                  <a:srgbClr val="1E293B"/>
                </a:solidFill>
                <a:latin typeface="Arial"/>
              </a:rPr>
              <a:t>充提差（</a:t>
            </a:r>
            <a:r>
              <a:rPr lang="en-US" altLang="zh-CN" sz="1000" b="0" i="0" u="none" strike="noStrike">
                <a:solidFill>
                  <a:srgbClr val="1E293B"/>
                </a:solidFill>
                <a:latin typeface="Arial"/>
              </a:rPr>
              <a:t>USD</a:t>
            </a:r>
            <a:r>
              <a:rPr lang="zh-CN" altLang="en-US" sz="1000" b="0" i="0" u="none" strike="noStrike">
                <a:solidFill>
                  <a:srgbClr val="1E293B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真实消耗($)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5/17</c:v>
                </c:pt>
                <c:pt idx="1">
                  <c:v>5/18</c:v>
                </c:pt>
                <c:pt idx="2">
                  <c:v>5/19</c:v>
                </c:pt>
                <c:pt idx="3">
                  <c:v>5/20</c:v>
                </c:pt>
                <c:pt idx="4">
                  <c:v>5/21</c:v>
                </c:pt>
                <c:pt idx="5">
                  <c:v>5/22</c:v>
                </c:pt>
                <c:pt idx="6">
                  <c:v>5/23</c:v>
                </c:pt>
                <c:pt idx="7">
                  <c:v>5/24</c:v>
                </c:pt>
                <c:pt idx="8">
                  <c:v>5/25</c:v>
                </c:pt>
                <c:pt idx="9">
                  <c:v>5/26</c:v>
                </c:pt>
                <c:pt idx="10">
                  <c:v>5/27</c:v>
                </c:pt>
                <c:pt idx="11">
                  <c:v>5/28</c:v>
                </c:pt>
                <c:pt idx="12">
                  <c:v>5/29</c:v>
                </c:pt>
                <c:pt idx="13">
                  <c:v>5/30</c:v>
                </c:pt>
                <c:pt idx="14">
                  <c:v>5/31</c:v>
                </c:pt>
                <c:pt idx="15">
                  <c:v>6/1</c:v>
                </c:pt>
                <c:pt idx="16">
                  <c:v>6/2</c:v>
                </c:pt>
                <c:pt idx="17">
                  <c:v>6/3</c:v>
                </c:pt>
                <c:pt idx="18">
                  <c:v>6/4</c:v>
                </c:pt>
                <c:pt idx="19">
                  <c:v>6/5</c:v>
                </c:pt>
                <c:pt idx="20">
                  <c:v>6/6</c:v>
                </c:pt>
                <c:pt idx="21">
                  <c:v>6/7</c:v>
                </c:pt>
                <c:pt idx="22">
                  <c:v>6/8</c:v>
                </c:pt>
                <c:pt idx="23">
                  <c:v>6/9</c:v>
                </c:pt>
                <c:pt idx="24">
                  <c:v>6/10</c:v>
                </c:pt>
                <c:pt idx="25">
                  <c:v>6/11</c:v>
                </c:pt>
                <c:pt idx="26">
                  <c:v>6/12</c:v>
                </c:pt>
                <c:pt idx="27">
                  <c:v>6/13</c:v>
                </c:pt>
                <c:pt idx="28">
                  <c:v>6/14</c:v>
                </c:pt>
                <c:pt idx="29">
                  <c:v>6/15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15587</c:v>
                </c:pt>
                <c:pt idx="1">
                  <c:v>8600</c:v>
                </c:pt>
                <c:pt idx="2">
                  <c:v>4134</c:v>
                </c:pt>
                <c:pt idx="3">
                  <c:v>3571</c:v>
                </c:pt>
                <c:pt idx="4">
                  <c:v>4546</c:v>
                </c:pt>
                <c:pt idx="5">
                  <c:v>5936</c:v>
                </c:pt>
                <c:pt idx="6">
                  <c:v>7201</c:v>
                </c:pt>
                <c:pt idx="7">
                  <c:v>7434</c:v>
                </c:pt>
                <c:pt idx="8">
                  <c:v>10220</c:v>
                </c:pt>
                <c:pt idx="9">
                  <c:v>18153</c:v>
                </c:pt>
                <c:pt idx="10">
                  <c:v>10571</c:v>
                </c:pt>
                <c:pt idx="11">
                  <c:v>7001</c:v>
                </c:pt>
                <c:pt idx="12">
                  <c:v>5982</c:v>
                </c:pt>
                <c:pt idx="13">
                  <c:v>5881</c:v>
                </c:pt>
                <c:pt idx="14">
                  <c:v>6514</c:v>
                </c:pt>
                <c:pt idx="15">
                  <c:v>7464</c:v>
                </c:pt>
                <c:pt idx="16">
                  <c:v>11323</c:v>
                </c:pt>
                <c:pt idx="17">
                  <c:v>11523</c:v>
                </c:pt>
                <c:pt idx="18">
                  <c:v>12676</c:v>
                </c:pt>
                <c:pt idx="19">
                  <c:v>7491</c:v>
                </c:pt>
                <c:pt idx="20">
                  <c:v>6958</c:v>
                </c:pt>
                <c:pt idx="21">
                  <c:v>5821</c:v>
                </c:pt>
                <c:pt idx="22">
                  <c:v>5151</c:v>
                </c:pt>
                <c:pt idx="23">
                  <c:v>5123</c:v>
                </c:pt>
                <c:pt idx="24">
                  <c:v>3892</c:v>
                </c:pt>
                <c:pt idx="25">
                  <c:v>3566</c:v>
                </c:pt>
                <c:pt idx="26">
                  <c:v>5607</c:v>
                </c:pt>
                <c:pt idx="27">
                  <c:v>5186</c:v>
                </c:pt>
                <c:pt idx="28">
                  <c:v>8938</c:v>
                </c:pt>
                <c:pt idx="29">
                  <c:v>7467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3F-4511-B51C-21E1A50FE0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充提差($)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5/17</c:v>
                </c:pt>
                <c:pt idx="1">
                  <c:v>5/18</c:v>
                </c:pt>
                <c:pt idx="2">
                  <c:v>5/19</c:v>
                </c:pt>
                <c:pt idx="3">
                  <c:v>5/20</c:v>
                </c:pt>
                <c:pt idx="4">
                  <c:v>5/21</c:v>
                </c:pt>
                <c:pt idx="5">
                  <c:v>5/22</c:v>
                </c:pt>
                <c:pt idx="6">
                  <c:v>5/23</c:v>
                </c:pt>
                <c:pt idx="7">
                  <c:v>5/24</c:v>
                </c:pt>
                <c:pt idx="8">
                  <c:v>5/25</c:v>
                </c:pt>
                <c:pt idx="9">
                  <c:v>5/26</c:v>
                </c:pt>
                <c:pt idx="10">
                  <c:v>5/27</c:v>
                </c:pt>
                <c:pt idx="11">
                  <c:v>5/28</c:v>
                </c:pt>
                <c:pt idx="12">
                  <c:v>5/29</c:v>
                </c:pt>
                <c:pt idx="13">
                  <c:v>5/30</c:v>
                </c:pt>
                <c:pt idx="14">
                  <c:v>5/31</c:v>
                </c:pt>
                <c:pt idx="15">
                  <c:v>6/1</c:v>
                </c:pt>
                <c:pt idx="16">
                  <c:v>6/2</c:v>
                </c:pt>
                <c:pt idx="17">
                  <c:v>6/3</c:v>
                </c:pt>
                <c:pt idx="18">
                  <c:v>6/4</c:v>
                </c:pt>
                <c:pt idx="19">
                  <c:v>6/5</c:v>
                </c:pt>
                <c:pt idx="20">
                  <c:v>6/6</c:v>
                </c:pt>
                <c:pt idx="21">
                  <c:v>6/7</c:v>
                </c:pt>
                <c:pt idx="22">
                  <c:v>6/8</c:v>
                </c:pt>
                <c:pt idx="23">
                  <c:v>6/9</c:v>
                </c:pt>
                <c:pt idx="24">
                  <c:v>6/10</c:v>
                </c:pt>
                <c:pt idx="25">
                  <c:v>6/11</c:v>
                </c:pt>
                <c:pt idx="26">
                  <c:v>6/12</c:v>
                </c:pt>
                <c:pt idx="27">
                  <c:v>6/13</c:v>
                </c:pt>
                <c:pt idx="28">
                  <c:v>6/14</c:v>
                </c:pt>
                <c:pt idx="29">
                  <c:v>6/15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8671</c:v>
                </c:pt>
                <c:pt idx="1">
                  <c:v>5653</c:v>
                </c:pt>
                <c:pt idx="2">
                  <c:v>6321</c:v>
                </c:pt>
                <c:pt idx="3">
                  <c:v>4581</c:v>
                </c:pt>
                <c:pt idx="4">
                  <c:v>7682</c:v>
                </c:pt>
                <c:pt idx="5">
                  <c:v>5042</c:v>
                </c:pt>
                <c:pt idx="6">
                  <c:v>5732</c:v>
                </c:pt>
                <c:pt idx="7">
                  <c:v>4779</c:v>
                </c:pt>
                <c:pt idx="8">
                  <c:v>4875</c:v>
                </c:pt>
                <c:pt idx="9">
                  <c:v>3198</c:v>
                </c:pt>
                <c:pt idx="10">
                  <c:v>4218</c:v>
                </c:pt>
                <c:pt idx="11">
                  <c:v>4446</c:v>
                </c:pt>
                <c:pt idx="12">
                  <c:v>5329</c:v>
                </c:pt>
                <c:pt idx="13">
                  <c:v>6123</c:v>
                </c:pt>
                <c:pt idx="14">
                  <c:v>6387</c:v>
                </c:pt>
                <c:pt idx="15">
                  <c:v>1109</c:v>
                </c:pt>
                <c:pt idx="16">
                  <c:v>6701</c:v>
                </c:pt>
                <c:pt idx="17">
                  <c:v>1</c:v>
                </c:pt>
                <c:pt idx="18">
                  <c:v>4929</c:v>
                </c:pt>
                <c:pt idx="19">
                  <c:v>6569</c:v>
                </c:pt>
                <c:pt idx="20">
                  <c:v>6260</c:v>
                </c:pt>
                <c:pt idx="21">
                  <c:v>3587</c:v>
                </c:pt>
                <c:pt idx="22">
                  <c:v>3331</c:v>
                </c:pt>
                <c:pt idx="23">
                  <c:v>-4075</c:v>
                </c:pt>
                <c:pt idx="24">
                  <c:v>4937</c:v>
                </c:pt>
                <c:pt idx="25">
                  <c:v>5196</c:v>
                </c:pt>
                <c:pt idx="26">
                  <c:v>5514</c:v>
                </c:pt>
                <c:pt idx="27">
                  <c:v>6250</c:v>
                </c:pt>
                <c:pt idx="28">
                  <c:v>1193</c:v>
                </c:pt>
                <c:pt idx="29">
                  <c:v>6764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3F-4511-B51C-21E1A50FE0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zh-CN" altLang="en-US" sz="1000" b="0" i="0" u="none" strike="noStrike" dirty="0">
                <a:solidFill>
                  <a:srgbClr val="1E293B"/>
                </a:solidFill>
                <a:latin typeface="Arial"/>
              </a:rPr>
              <a:t>一级首充获客成本</a:t>
            </a:r>
            <a:r>
              <a:rPr lang="en-US" altLang="zh-CN" sz="1000" b="0" i="0" u="none" strike="noStrike" dirty="0">
                <a:solidFill>
                  <a:srgbClr val="1E293B"/>
                </a:solidFill>
                <a:latin typeface="Arial"/>
              </a:rPr>
              <a:t>CAC VS </a:t>
            </a:r>
            <a:r>
              <a:rPr lang="zh-CN" altLang="en-US" sz="1000" b="0" i="0" u="none" strike="noStrike" dirty="0">
                <a:solidFill>
                  <a:srgbClr val="1E293B"/>
                </a:solidFill>
                <a:latin typeface="Arial"/>
              </a:rPr>
              <a:t>首充</a:t>
            </a:r>
            <a:r>
              <a:rPr lang="en-US" altLang="zh-CN" sz="1000" b="0" i="0" u="none" strike="noStrike" dirty="0">
                <a:solidFill>
                  <a:srgbClr val="1E293B"/>
                </a:solidFill>
                <a:latin typeface="Arial"/>
              </a:rPr>
              <a:t>LTV30</a:t>
            </a:r>
            <a:r>
              <a:rPr lang="zh-CN" altLang="en-US" sz="1000" b="0" i="0" u="none" strike="noStrike" dirty="0">
                <a:solidFill>
                  <a:srgbClr val="1E293B"/>
                </a:solidFill>
                <a:latin typeface="Arial"/>
              </a:rPr>
              <a:t>日（</a:t>
            </a:r>
            <a:r>
              <a:rPr lang="en-US" altLang="zh-CN" sz="1000" b="0" i="0" u="none" strike="noStrike" dirty="0">
                <a:solidFill>
                  <a:srgbClr val="1E293B"/>
                </a:solidFill>
                <a:latin typeface="Arial"/>
              </a:rPr>
              <a:t>USD/</a:t>
            </a:r>
            <a:r>
              <a:rPr lang="zh-CN" altLang="en-US" sz="1000" b="0" i="0" u="none" strike="noStrike" dirty="0">
                <a:solidFill>
                  <a:srgbClr val="1E293B"/>
                </a:solidFill>
                <a:latin typeface="Arial"/>
              </a:rPr>
              <a:t>人）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2390228565179359E-2"/>
          <c:y val="0.19586132983377078"/>
          <c:w val="0.9285125492125984"/>
          <c:h val="0.56333552055992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一级首充获客成本CAC($)</c:v>
                </c:pt>
              </c:strCache>
            </c:strRef>
          </c:tx>
          <c:spPr>
            <a:ln w="2794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numRef>
              <c:f>Sheet1!$A$2:$A$50</c:f>
              <c:numCache>
                <c:formatCode>m/d</c:formatCode>
                <c:ptCount val="49"/>
                <c:pt idx="0">
                  <c:v>46140</c:v>
                </c:pt>
                <c:pt idx="1">
                  <c:v>46141</c:v>
                </c:pt>
                <c:pt idx="2">
                  <c:v>46142</c:v>
                </c:pt>
                <c:pt idx="3">
                  <c:v>46143</c:v>
                </c:pt>
                <c:pt idx="4">
                  <c:v>46144</c:v>
                </c:pt>
                <c:pt idx="5">
                  <c:v>46145</c:v>
                </c:pt>
                <c:pt idx="6">
                  <c:v>46146</c:v>
                </c:pt>
                <c:pt idx="7">
                  <c:v>46147</c:v>
                </c:pt>
                <c:pt idx="8">
                  <c:v>46148</c:v>
                </c:pt>
                <c:pt idx="9">
                  <c:v>46149</c:v>
                </c:pt>
                <c:pt idx="10">
                  <c:v>46150</c:v>
                </c:pt>
                <c:pt idx="11">
                  <c:v>46151</c:v>
                </c:pt>
                <c:pt idx="12">
                  <c:v>46152</c:v>
                </c:pt>
                <c:pt idx="13">
                  <c:v>46153</c:v>
                </c:pt>
                <c:pt idx="14">
                  <c:v>46154</c:v>
                </c:pt>
                <c:pt idx="15">
                  <c:v>46155</c:v>
                </c:pt>
                <c:pt idx="16">
                  <c:v>46156</c:v>
                </c:pt>
                <c:pt idx="17">
                  <c:v>46157</c:v>
                </c:pt>
                <c:pt idx="18">
                  <c:v>46158</c:v>
                </c:pt>
                <c:pt idx="19">
                  <c:v>46159</c:v>
                </c:pt>
                <c:pt idx="20">
                  <c:v>46160</c:v>
                </c:pt>
                <c:pt idx="21">
                  <c:v>46161</c:v>
                </c:pt>
                <c:pt idx="22">
                  <c:v>46162</c:v>
                </c:pt>
                <c:pt idx="23">
                  <c:v>46163</c:v>
                </c:pt>
                <c:pt idx="24">
                  <c:v>46164</c:v>
                </c:pt>
                <c:pt idx="25">
                  <c:v>46165</c:v>
                </c:pt>
                <c:pt idx="26">
                  <c:v>46166</c:v>
                </c:pt>
                <c:pt idx="27">
                  <c:v>46167</c:v>
                </c:pt>
                <c:pt idx="28">
                  <c:v>46168</c:v>
                </c:pt>
                <c:pt idx="29">
                  <c:v>46169</c:v>
                </c:pt>
                <c:pt idx="30">
                  <c:v>46170</c:v>
                </c:pt>
                <c:pt idx="31">
                  <c:v>46171</c:v>
                </c:pt>
                <c:pt idx="32">
                  <c:v>46172</c:v>
                </c:pt>
                <c:pt idx="33">
                  <c:v>46173</c:v>
                </c:pt>
                <c:pt idx="34">
                  <c:v>46174</c:v>
                </c:pt>
                <c:pt idx="35">
                  <c:v>46175</c:v>
                </c:pt>
                <c:pt idx="36">
                  <c:v>46176</c:v>
                </c:pt>
                <c:pt idx="37">
                  <c:v>46177</c:v>
                </c:pt>
                <c:pt idx="38">
                  <c:v>46178</c:v>
                </c:pt>
                <c:pt idx="39">
                  <c:v>46179</c:v>
                </c:pt>
                <c:pt idx="40">
                  <c:v>46180</c:v>
                </c:pt>
                <c:pt idx="41">
                  <c:v>46181</c:v>
                </c:pt>
                <c:pt idx="42">
                  <c:v>46182</c:v>
                </c:pt>
                <c:pt idx="43">
                  <c:v>46183</c:v>
                </c:pt>
                <c:pt idx="44">
                  <c:v>46184</c:v>
                </c:pt>
                <c:pt idx="45">
                  <c:v>46185</c:v>
                </c:pt>
                <c:pt idx="46">
                  <c:v>46186</c:v>
                </c:pt>
                <c:pt idx="47">
                  <c:v>46187</c:v>
                </c:pt>
                <c:pt idx="48">
                  <c:v>46188</c:v>
                </c:pt>
              </c:numCache>
            </c:num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12.9</c:v>
                </c:pt>
                <c:pt idx="1">
                  <c:v>11.1</c:v>
                </c:pt>
                <c:pt idx="2">
                  <c:v>13.4</c:v>
                </c:pt>
                <c:pt idx="3">
                  <c:v>13.9</c:v>
                </c:pt>
                <c:pt idx="4">
                  <c:v>14</c:v>
                </c:pt>
                <c:pt idx="5">
                  <c:v>14.8</c:v>
                </c:pt>
                <c:pt idx="6">
                  <c:v>17</c:v>
                </c:pt>
                <c:pt idx="7">
                  <c:v>15.1</c:v>
                </c:pt>
                <c:pt idx="8">
                  <c:v>18.3</c:v>
                </c:pt>
                <c:pt idx="9">
                  <c:v>16.600000000000001</c:v>
                </c:pt>
                <c:pt idx="10">
                  <c:v>14.6</c:v>
                </c:pt>
                <c:pt idx="11">
                  <c:v>15</c:v>
                </c:pt>
                <c:pt idx="12">
                  <c:v>12.6</c:v>
                </c:pt>
                <c:pt idx="13">
                  <c:v>13</c:v>
                </c:pt>
                <c:pt idx="14">
                  <c:v>15.6</c:v>
                </c:pt>
                <c:pt idx="15">
                  <c:v>14</c:v>
                </c:pt>
                <c:pt idx="16">
                  <c:v>16.7</c:v>
                </c:pt>
                <c:pt idx="17">
                  <c:v>13.2</c:v>
                </c:pt>
                <c:pt idx="18">
                  <c:v>12.8</c:v>
                </c:pt>
                <c:pt idx="19">
                  <c:v>11.6</c:v>
                </c:pt>
                <c:pt idx="20">
                  <c:v>8.1999999999999993</c:v>
                </c:pt>
                <c:pt idx="21">
                  <c:v>9.1999999999999993</c:v>
                </c:pt>
                <c:pt idx="22">
                  <c:v>11.9</c:v>
                </c:pt>
                <c:pt idx="23">
                  <c:v>16.100000000000001</c:v>
                </c:pt>
                <c:pt idx="24">
                  <c:v>16.5</c:v>
                </c:pt>
                <c:pt idx="25">
                  <c:v>17</c:v>
                </c:pt>
                <c:pt idx="26">
                  <c:v>18.3</c:v>
                </c:pt>
                <c:pt idx="27">
                  <c:v>18.7</c:v>
                </c:pt>
                <c:pt idx="28">
                  <c:v>23.4</c:v>
                </c:pt>
                <c:pt idx="29">
                  <c:v>22.9</c:v>
                </c:pt>
                <c:pt idx="30">
                  <c:v>23.6</c:v>
                </c:pt>
                <c:pt idx="31">
                  <c:v>23.5</c:v>
                </c:pt>
                <c:pt idx="32">
                  <c:v>17.2</c:v>
                </c:pt>
                <c:pt idx="33">
                  <c:v>19.399999999999999</c:v>
                </c:pt>
                <c:pt idx="34">
                  <c:v>24.8</c:v>
                </c:pt>
                <c:pt idx="35">
                  <c:v>30.3</c:v>
                </c:pt>
                <c:pt idx="36">
                  <c:v>29.9</c:v>
                </c:pt>
                <c:pt idx="37">
                  <c:v>37.4</c:v>
                </c:pt>
                <c:pt idx="38">
                  <c:v>19.899999999999999</c:v>
                </c:pt>
                <c:pt idx="39">
                  <c:v>21.1</c:v>
                </c:pt>
                <c:pt idx="40">
                  <c:v>19.3</c:v>
                </c:pt>
                <c:pt idx="41">
                  <c:v>17.600000000000001</c:v>
                </c:pt>
                <c:pt idx="42">
                  <c:v>17.100000000000001</c:v>
                </c:pt>
                <c:pt idx="43">
                  <c:v>13.8</c:v>
                </c:pt>
                <c:pt idx="44">
                  <c:v>16.899999999999999</c:v>
                </c:pt>
                <c:pt idx="45">
                  <c:v>21.3</c:v>
                </c:pt>
                <c:pt idx="46">
                  <c:v>16.7</c:v>
                </c:pt>
                <c:pt idx="47">
                  <c:v>30.5</c:v>
                </c:pt>
                <c:pt idx="48">
                  <c:v>30.6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BE-4595-B07C-EAA24DA2A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首充LTV30日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marker>
          <c:cat>
            <c:numRef>
              <c:f>Sheet1!$A$2:$A$50</c:f>
              <c:numCache>
                <c:formatCode>m/d</c:formatCode>
                <c:ptCount val="49"/>
                <c:pt idx="0">
                  <c:v>46140</c:v>
                </c:pt>
                <c:pt idx="1">
                  <c:v>46141</c:v>
                </c:pt>
                <c:pt idx="2">
                  <c:v>46142</c:v>
                </c:pt>
                <c:pt idx="3">
                  <c:v>46143</c:v>
                </c:pt>
                <c:pt idx="4">
                  <c:v>46144</c:v>
                </c:pt>
                <c:pt idx="5">
                  <c:v>46145</c:v>
                </c:pt>
                <c:pt idx="6">
                  <c:v>46146</c:v>
                </c:pt>
                <c:pt idx="7">
                  <c:v>46147</c:v>
                </c:pt>
                <c:pt idx="8">
                  <c:v>46148</c:v>
                </c:pt>
                <c:pt idx="9">
                  <c:v>46149</c:v>
                </c:pt>
                <c:pt idx="10">
                  <c:v>46150</c:v>
                </c:pt>
                <c:pt idx="11">
                  <c:v>46151</c:v>
                </c:pt>
                <c:pt idx="12">
                  <c:v>46152</c:v>
                </c:pt>
                <c:pt idx="13">
                  <c:v>46153</c:v>
                </c:pt>
                <c:pt idx="14">
                  <c:v>46154</c:v>
                </c:pt>
                <c:pt idx="15">
                  <c:v>46155</c:v>
                </c:pt>
                <c:pt idx="16">
                  <c:v>46156</c:v>
                </c:pt>
                <c:pt idx="17">
                  <c:v>46157</c:v>
                </c:pt>
                <c:pt idx="18">
                  <c:v>46158</c:v>
                </c:pt>
                <c:pt idx="19">
                  <c:v>46159</c:v>
                </c:pt>
                <c:pt idx="20">
                  <c:v>46160</c:v>
                </c:pt>
                <c:pt idx="21">
                  <c:v>46161</c:v>
                </c:pt>
                <c:pt idx="22">
                  <c:v>46162</c:v>
                </c:pt>
                <c:pt idx="23">
                  <c:v>46163</c:v>
                </c:pt>
                <c:pt idx="24">
                  <c:v>46164</c:v>
                </c:pt>
                <c:pt idx="25">
                  <c:v>46165</c:v>
                </c:pt>
                <c:pt idx="26">
                  <c:v>46166</c:v>
                </c:pt>
                <c:pt idx="27">
                  <c:v>46167</c:v>
                </c:pt>
                <c:pt idx="28">
                  <c:v>46168</c:v>
                </c:pt>
                <c:pt idx="29">
                  <c:v>46169</c:v>
                </c:pt>
                <c:pt idx="30">
                  <c:v>46170</c:v>
                </c:pt>
                <c:pt idx="31">
                  <c:v>46171</c:v>
                </c:pt>
                <c:pt idx="32">
                  <c:v>46172</c:v>
                </c:pt>
                <c:pt idx="33">
                  <c:v>46173</c:v>
                </c:pt>
                <c:pt idx="34">
                  <c:v>46174</c:v>
                </c:pt>
                <c:pt idx="35">
                  <c:v>46175</c:v>
                </c:pt>
                <c:pt idx="36">
                  <c:v>46176</c:v>
                </c:pt>
                <c:pt idx="37">
                  <c:v>46177</c:v>
                </c:pt>
                <c:pt idx="38">
                  <c:v>46178</c:v>
                </c:pt>
                <c:pt idx="39">
                  <c:v>46179</c:v>
                </c:pt>
                <c:pt idx="40">
                  <c:v>46180</c:v>
                </c:pt>
                <c:pt idx="41">
                  <c:v>46181</c:v>
                </c:pt>
                <c:pt idx="42">
                  <c:v>46182</c:v>
                </c:pt>
                <c:pt idx="43">
                  <c:v>46183</c:v>
                </c:pt>
                <c:pt idx="44">
                  <c:v>46184</c:v>
                </c:pt>
                <c:pt idx="45">
                  <c:v>46185</c:v>
                </c:pt>
                <c:pt idx="46">
                  <c:v>46186</c:v>
                </c:pt>
                <c:pt idx="47">
                  <c:v>46187</c:v>
                </c:pt>
                <c:pt idx="48">
                  <c:v>46188</c:v>
                </c:pt>
              </c:numCache>
            </c:num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2.72</c:v>
                </c:pt>
                <c:pt idx="1">
                  <c:v>4.5650000000000004</c:v>
                </c:pt>
                <c:pt idx="2">
                  <c:v>5.7649999999999997</c:v>
                </c:pt>
                <c:pt idx="3">
                  <c:v>4.2779999999999996</c:v>
                </c:pt>
                <c:pt idx="4">
                  <c:v>6.7489999999999997</c:v>
                </c:pt>
                <c:pt idx="5">
                  <c:v>4.1349999999999998</c:v>
                </c:pt>
                <c:pt idx="6">
                  <c:v>8.7520000000000007</c:v>
                </c:pt>
                <c:pt idx="7">
                  <c:v>9.2210000000000001</c:v>
                </c:pt>
                <c:pt idx="8">
                  <c:v>5.2519999999999998</c:v>
                </c:pt>
                <c:pt idx="9">
                  <c:v>6.2220000000000004</c:v>
                </c:pt>
                <c:pt idx="10">
                  <c:v>6.1950000000000003</c:v>
                </c:pt>
                <c:pt idx="11">
                  <c:v>6.2939999999999996</c:v>
                </c:pt>
                <c:pt idx="12">
                  <c:v>9.0350000000000001</c:v>
                </c:pt>
                <c:pt idx="13">
                  <c:v>7.7430000000000003</c:v>
                </c:pt>
                <c:pt idx="14">
                  <c:v>7.7270000000000003</c:v>
                </c:pt>
                <c:pt idx="15">
                  <c:v>6.3609999999999998</c:v>
                </c:pt>
                <c:pt idx="16">
                  <c:v>3.9569999999999999</c:v>
                </c:pt>
                <c:pt idx="17">
                  <c:v>5.1559999999999997</c:v>
                </c:pt>
                <c:pt idx="18">
                  <c:v>3.3039999999999998</c:v>
                </c:pt>
                <c:pt idx="19">
                  <c:v>3.9540000000000002</c:v>
                </c:pt>
                <c:pt idx="20">
                  <c:v>2.1059999999999999</c:v>
                </c:pt>
                <c:pt idx="21">
                  <c:v>4.4340000000000002</c:v>
                </c:pt>
                <c:pt idx="22">
                  <c:v>6.859</c:v>
                </c:pt>
                <c:pt idx="23">
                  <c:v>5.3719999999999999</c:v>
                </c:pt>
                <c:pt idx="24">
                  <c:v>10.316000000000001</c:v>
                </c:pt>
                <c:pt idx="25">
                  <c:v>3.6280000000000001</c:v>
                </c:pt>
                <c:pt idx="26">
                  <c:v>3.3180000000000001</c:v>
                </c:pt>
                <c:pt idx="27">
                  <c:v>3.43</c:v>
                </c:pt>
                <c:pt idx="28">
                  <c:v>3.9529999999999998</c:v>
                </c:pt>
                <c:pt idx="29">
                  <c:v>3.806</c:v>
                </c:pt>
                <c:pt idx="30">
                  <c:v>9.0030000000000001</c:v>
                </c:pt>
                <c:pt idx="31">
                  <c:v>3.081</c:v>
                </c:pt>
                <c:pt idx="32">
                  <c:v>6.6559999999999997</c:v>
                </c:pt>
                <c:pt idx="33">
                  <c:v>5.1219999999999999</c:v>
                </c:pt>
                <c:pt idx="34">
                  <c:v>4.4610000000000003</c:v>
                </c:pt>
                <c:pt idx="35">
                  <c:v>6.1680000000000001</c:v>
                </c:pt>
                <c:pt idx="36">
                  <c:v>6.9119999999999999</c:v>
                </c:pt>
                <c:pt idx="37">
                  <c:v>8.7720000000000002</c:v>
                </c:pt>
                <c:pt idx="38">
                  <c:v>3.5219999999999998</c:v>
                </c:pt>
                <c:pt idx="39">
                  <c:v>3.169</c:v>
                </c:pt>
                <c:pt idx="40">
                  <c:v>4.2359999999999998</c:v>
                </c:pt>
                <c:pt idx="41">
                  <c:v>7.8029999999999999</c:v>
                </c:pt>
                <c:pt idx="42">
                  <c:v>-2.6579999999999999</c:v>
                </c:pt>
                <c:pt idx="43">
                  <c:v>4.55</c:v>
                </c:pt>
                <c:pt idx="44">
                  <c:v>3.7789999999999999</c:v>
                </c:pt>
                <c:pt idx="45">
                  <c:v>-4.6029999999999998</c:v>
                </c:pt>
                <c:pt idx="46">
                  <c:v>4.3239999999999998</c:v>
                </c:pt>
                <c:pt idx="47">
                  <c:v>4.4169999999999998</c:v>
                </c:pt>
                <c:pt idx="48">
                  <c:v>3.9239999999999999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BE-4595-B07C-EAA24DA2A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9647664"/>
        <c:axId val="1079646224"/>
      </c:lineChart>
      <c:dateAx>
        <c:axId val="2094734554"/>
        <c:scaling>
          <c:orientation val="minMax"/>
        </c:scaling>
        <c:delete val="0"/>
        <c:axPos val="b"/>
        <c:numFmt formatCode="m/d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Offset val="100"/>
        <c:baseTimeUnit val="days"/>
      </c:dateAx>
      <c:valAx>
        <c:axId val="2094734552"/>
        <c:scaling>
          <c:orientation val="minMax"/>
          <c:max val="45"/>
          <c:min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107964622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079647664"/>
        <c:crosses val="max"/>
        <c:crossBetween val="between"/>
      </c:valAx>
      <c:dateAx>
        <c:axId val="1079647664"/>
        <c:scaling>
          <c:orientation val="minMax"/>
        </c:scaling>
        <c:delete val="1"/>
        <c:axPos val="b"/>
        <c:numFmt formatCode="m/d" sourceLinked="1"/>
        <c:majorTickMark val="out"/>
        <c:minorTickMark val="none"/>
        <c:tickLblPos val="nextTo"/>
        <c:crossAx val="1079646224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SOLUNO ARPPU 14</a:t>
            </a:r>
            <a:r>
              <a:rPr lang="zh-CN" altLang="en-US" sz="1100" b="0" i="0" u="none" strike="noStrike">
                <a:solidFill>
                  <a:srgbClr val="1E293B"/>
                </a:solidFill>
                <a:latin typeface="Arial"/>
              </a:rPr>
              <a:t>日趋势（</a:t>
            </a:r>
            <a:r>
              <a:rPr lang="en-US" sz="1100" b="0" i="0" u="none" strike="noStrike">
                <a:solidFill>
                  <a:srgbClr val="1E293B"/>
                </a:solidFill>
                <a:latin typeface="Arial"/>
              </a:rPr>
              <a:t>USD）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全量ARPPU</c:v>
                </c:pt>
              </c:strCache>
            </c:strRef>
          </c:tx>
          <c:spPr>
            <a:ln w="2794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6/2</c:v>
                </c:pt>
                <c:pt idx="1">
                  <c:v>6/3</c:v>
                </c:pt>
                <c:pt idx="2">
                  <c:v>6/4</c:v>
                </c:pt>
                <c:pt idx="3">
                  <c:v>6/5</c:v>
                </c:pt>
                <c:pt idx="4">
                  <c:v>6/6</c:v>
                </c:pt>
                <c:pt idx="5">
                  <c:v>6/7</c:v>
                </c:pt>
                <c:pt idx="6">
                  <c:v>6/8</c:v>
                </c:pt>
                <c:pt idx="7">
                  <c:v>6/9</c:v>
                </c:pt>
                <c:pt idx="8">
                  <c:v>6/10</c:v>
                </c:pt>
                <c:pt idx="9">
                  <c:v>6/11</c:v>
                </c:pt>
                <c:pt idx="10">
                  <c:v>6/12</c:v>
                </c:pt>
                <c:pt idx="11">
                  <c:v>6/13</c:v>
                </c:pt>
                <c:pt idx="12">
                  <c:v>6/14</c:v>
                </c:pt>
                <c:pt idx="13">
                  <c:v>6/15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11.1</c:v>
                </c:pt>
                <c:pt idx="1">
                  <c:v>9.9600000000000009</c:v>
                </c:pt>
                <c:pt idx="2">
                  <c:v>10.74</c:v>
                </c:pt>
                <c:pt idx="3">
                  <c:v>11.17</c:v>
                </c:pt>
                <c:pt idx="4">
                  <c:v>12.23</c:v>
                </c:pt>
                <c:pt idx="5">
                  <c:v>11.12</c:v>
                </c:pt>
                <c:pt idx="6">
                  <c:v>11.18</c:v>
                </c:pt>
                <c:pt idx="7">
                  <c:v>10.59</c:v>
                </c:pt>
                <c:pt idx="8">
                  <c:v>11.81</c:v>
                </c:pt>
                <c:pt idx="9">
                  <c:v>10.78</c:v>
                </c:pt>
                <c:pt idx="10">
                  <c:v>11.96</c:v>
                </c:pt>
                <c:pt idx="11">
                  <c:v>11.7</c:v>
                </c:pt>
                <c:pt idx="12">
                  <c:v>11.31</c:v>
                </c:pt>
                <c:pt idx="13">
                  <c:v>12.69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11-427F-96D2-8D8E76FAC4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首充ARPPU</c:v>
                </c:pt>
              </c:strCache>
            </c:strRef>
          </c:tx>
          <c:spPr>
            <a:ln w="27940" cap="flat">
              <a:solidFill>
                <a:srgbClr val="6366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6/2</c:v>
                </c:pt>
                <c:pt idx="1">
                  <c:v>6/3</c:v>
                </c:pt>
                <c:pt idx="2">
                  <c:v>6/4</c:v>
                </c:pt>
                <c:pt idx="3">
                  <c:v>6/5</c:v>
                </c:pt>
                <c:pt idx="4">
                  <c:v>6/6</c:v>
                </c:pt>
                <c:pt idx="5">
                  <c:v>6/7</c:v>
                </c:pt>
                <c:pt idx="6">
                  <c:v>6/8</c:v>
                </c:pt>
                <c:pt idx="7">
                  <c:v>6/9</c:v>
                </c:pt>
                <c:pt idx="8">
                  <c:v>6/10</c:v>
                </c:pt>
                <c:pt idx="9">
                  <c:v>6/11</c:v>
                </c:pt>
                <c:pt idx="10">
                  <c:v>6/12</c:v>
                </c:pt>
                <c:pt idx="11">
                  <c:v>6/13</c:v>
                </c:pt>
                <c:pt idx="12">
                  <c:v>6/14</c:v>
                </c:pt>
                <c:pt idx="13">
                  <c:v>6/15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9.4600000000000009</c:v>
                </c:pt>
                <c:pt idx="1">
                  <c:v>7.39</c:v>
                </c:pt>
                <c:pt idx="2">
                  <c:v>7.62</c:v>
                </c:pt>
                <c:pt idx="3">
                  <c:v>8.0399999999999991</c:v>
                </c:pt>
                <c:pt idx="4">
                  <c:v>9.8699999999999992</c:v>
                </c:pt>
                <c:pt idx="5">
                  <c:v>8.15</c:v>
                </c:pt>
                <c:pt idx="6">
                  <c:v>8.64</c:v>
                </c:pt>
                <c:pt idx="7">
                  <c:v>7.51</c:v>
                </c:pt>
                <c:pt idx="8">
                  <c:v>9.83</c:v>
                </c:pt>
                <c:pt idx="9">
                  <c:v>8.0500000000000007</c:v>
                </c:pt>
                <c:pt idx="10">
                  <c:v>8.93</c:v>
                </c:pt>
                <c:pt idx="11">
                  <c:v>7.87</c:v>
                </c:pt>
                <c:pt idx="12">
                  <c:v>8.11</c:v>
                </c:pt>
                <c:pt idx="13">
                  <c:v>11.38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611-427F-96D2-8D8E76FAC4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老用户ARPPU</c:v>
                </c:pt>
              </c:strCache>
            </c:strRef>
          </c:tx>
          <c:spPr>
            <a:ln w="2794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6/2</c:v>
                </c:pt>
                <c:pt idx="1">
                  <c:v>6/3</c:v>
                </c:pt>
                <c:pt idx="2">
                  <c:v>6/4</c:v>
                </c:pt>
                <c:pt idx="3">
                  <c:v>6/5</c:v>
                </c:pt>
                <c:pt idx="4">
                  <c:v>6/6</c:v>
                </c:pt>
                <c:pt idx="5">
                  <c:v>6/7</c:v>
                </c:pt>
                <c:pt idx="6">
                  <c:v>6/8</c:v>
                </c:pt>
                <c:pt idx="7">
                  <c:v>6/9</c:v>
                </c:pt>
                <c:pt idx="8">
                  <c:v>6/10</c:v>
                </c:pt>
                <c:pt idx="9">
                  <c:v>6/11</c:v>
                </c:pt>
                <c:pt idx="10">
                  <c:v>6/12</c:v>
                </c:pt>
                <c:pt idx="11">
                  <c:v>6/13</c:v>
                </c:pt>
                <c:pt idx="12">
                  <c:v>6/14</c:v>
                </c:pt>
                <c:pt idx="13">
                  <c:v>6/15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11.57</c:v>
                </c:pt>
                <c:pt idx="1">
                  <c:v>10.7</c:v>
                </c:pt>
                <c:pt idx="2">
                  <c:v>11.49</c:v>
                </c:pt>
                <c:pt idx="3">
                  <c:v>12.01</c:v>
                </c:pt>
                <c:pt idx="4">
                  <c:v>12.73</c:v>
                </c:pt>
                <c:pt idx="5">
                  <c:v>11.78</c:v>
                </c:pt>
                <c:pt idx="6">
                  <c:v>11.89</c:v>
                </c:pt>
                <c:pt idx="7">
                  <c:v>11.53</c:v>
                </c:pt>
                <c:pt idx="8">
                  <c:v>12.72</c:v>
                </c:pt>
                <c:pt idx="9">
                  <c:v>11.29</c:v>
                </c:pt>
                <c:pt idx="10">
                  <c:v>12.59</c:v>
                </c:pt>
                <c:pt idx="11">
                  <c:v>12.67</c:v>
                </c:pt>
                <c:pt idx="12">
                  <c:v>12.13</c:v>
                </c:pt>
                <c:pt idx="13">
                  <c:v>12.96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611-427F-96D2-8D8E76FAC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zh-CN" altLang="en-US" sz="1100" b="0" i="0" u="none" strike="noStrike">
                <a:solidFill>
                  <a:srgbClr val="1E293B"/>
                </a:solidFill>
                <a:latin typeface="Arial"/>
              </a:rPr>
              <a:t>用户最小充值金额区间分布（</a:t>
            </a:r>
            <a:r>
              <a:rPr lang="en-US" altLang="zh-CN" sz="1100" b="0" i="0" u="none" strike="noStrike">
                <a:solidFill>
                  <a:srgbClr val="1E293B"/>
                </a:solidFill>
                <a:latin typeface="Arial"/>
              </a:rPr>
              <a:t>MXN</a:t>
            </a:r>
            <a:r>
              <a:rPr lang="zh-CN" altLang="en-US" sz="1100" b="0" i="0" u="none" strike="noStrike">
                <a:solidFill>
                  <a:srgbClr val="1E293B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SOLUNO（最小充值）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[0,50)</c:v>
                </c:pt>
                <c:pt idx="1">
                  <c:v>[50,100)</c:v>
                </c:pt>
                <c:pt idx="2">
                  <c:v>[100,200)</c:v>
                </c:pt>
                <c:pt idx="3">
                  <c:v>[200,300)</c:v>
                </c:pt>
                <c:pt idx="4">
                  <c:v>[300,500)</c:v>
                </c:pt>
                <c:pt idx="5">
                  <c:v>[500+]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9.5</c:v>
                </c:pt>
                <c:pt idx="1">
                  <c:v>42.9</c:v>
                </c:pt>
                <c:pt idx="2">
                  <c:v>36.1</c:v>
                </c:pt>
                <c:pt idx="3">
                  <c:v>5.2</c:v>
                </c:pt>
                <c:pt idx="4">
                  <c:v>3.9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0D-4DD5-A22A-F67669BBC7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WEY7（最小充值）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[0,50)</c:v>
                </c:pt>
                <c:pt idx="1">
                  <c:v>[50,100)</c:v>
                </c:pt>
                <c:pt idx="2">
                  <c:v>[100,200)</c:v>
                </c:pt>
                <c:pt idx="3">
                  <c:v>[200,300)</c:v>
                </c:pt>
                <c:pt idx="4">
                  <c:v>[300,500)</c:v>
                </c:pt>
                <c:pt idx="5">
                  <c:v>[500+]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8.4</c:v>
                </c:pt>
                <c:pt idx="1">
                  <c:v>30.4</c:v>
                </c:pt>
                <c:pt idx="2">
                  <c:v>46.3</c:v>
                </c:pt>
                <c:pt idx="3">
                  <c:v>8.6</c:v>
                </c:pt>
                <c:pt idx="4">
                  <c:v>4.0999999999999996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0D-4DD5-A22A-F67669BBC7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86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11480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716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SOLUNO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3716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</a:rPr>
              <a:t>WEY7MX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双平台充值行为 &amp; 用户质量对比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数据：2026.06.02–06.15（14日均值）  |  金额单位：USD（特殊注明除外）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充值行为 &amp; 用户付费全景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14日加权均值  ·  来源：大盘日报 + 总代报表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784080" y="137160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16" y="1097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SOLUNO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784080" y="365760"/>
            <a:ext cx="13716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57816" y="3383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WEY7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3749040" cy="329184"/>
          </a:xfrm>
          <a:prstGeom prst="roundRect">
            <a:avLst>
              <a:gd name="adj" fmla="val 19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ARPPU 对比（USD）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152144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521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指标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1521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SOLUNO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1521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WEY7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1521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差异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26464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4721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全量ARPPU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$11.31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45920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2400E"/>
                </a:solidFill>
              </a:rPr>
              <a:t>$12.70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852928" y="1764792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7647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+$1.39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505456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5511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首充ARPPU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7980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$8.74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45920" y="27980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2400E"/>
                </a:solidFill>
              </a:rPr>
              <a:t>$9.47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2852928" y="2843784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28437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+$0.73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63016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老用户ARPPU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8770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$12.00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645920" y="38770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2400E"/>
                </a:solidFill>
              </a:rPr>
              <a:t>$13.87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2852928" y="3922776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39227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+$1.87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47091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人均充值笔数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9560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4748B"/>
                </a:solidFill>
              </a:rPr>
              <a:t>1.77笔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645920" y="49560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4748B"/>
                </a:solidFill>
              </a:rPr>
              <a:t>1.74笔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2852928" y="5001768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50017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≈持平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06240" y="804672"/>
            <a:ext cx="3749040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804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付费率对比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06240" y="1152144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11521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指标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11521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SOLUNO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11521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WEY7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69480" y="11521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差异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06240" y="1426464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97680" y="14721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活跃用户付费率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9768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25.0%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5577840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24.6%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6784848" y="1764792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17647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+0.4pp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206240" y="2505456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297680" y="25511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老充付费率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0" y="27980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24.0%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5577840" y="27980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20.0%</a:t>
            </a:r>
            <a:endParaRPr lang="en-US" sz="1900" dirty="0"/>
          </a:p>
        </p:txBody>
      </p:sp>
      <p:sp>
        <p:nvSpPr>
          <p:cNvPr id="56" name="Shape 54"/>
          <p:cNvSpPr/>
          <p:nvPr/>
        </p:nvSpPr>
        <p:spPr>
          <a:xfrm>
            <a:off x="6784848" y="2843784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28437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+4.0pp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06240" y="3584448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297680" y="363016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新充付费率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97680" y="38770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30.6%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>
            <a:off x="5577840" y="38770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29.8%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6784848" y="3922776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39227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+0.8pp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206240" y="4663440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297680" y="47091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首充转化率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297680" y="49560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38.8%</a:t>
            </a:r>
            <a:endParaRPr lang="en-US" sz="1900" dirty="0"/>
          </a:p>
        </p:txBody>
      </p:sp>
      <p:sp>
        <p:nvSpPr>
          <p:cNvPr id="67" name="Text 65"/>
          <p:cNvSpPr/>
          <p:nvPr/>
        </p:nvSpPr>
        <p:spPr>
          <a:xfrm>
            <a:off x="5577840" y="49560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25.1%</a:t>
            </a:r>
            <a:endParaRPr lang="en-US" sz="1900" dirty="0"/>
          </a:p>
        </p:txBody>
      </p:sp>
      <p:sp>
        <p:nvSpPr>
          <p:cNvPr id="68" name="Shape 66"/>
          <p:cNvSpPr/>
          <p:nvPr/>
        </p:nvSpPr>
        <p:spPr>
          <a:xfrm>
            <a:off x="6784848" y="5001768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84848" y="50017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+13.7pp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138160" y="804672"/>
            <a:ext cx="3749040" cy="329184"/>
          </a:xfrm>
          <a:prstGeom prst="roundRect">
            <a:avLst>
              <a:gd name="adj" fmla="val 1944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38160" y="8046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规模 &amp; 充值结构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138160" y="1152144"/>
            <a:ext cx="37490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29600" y="115214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指标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509760" y="11521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SOLUNO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424160" y="115214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</a:rPr>
              <a:t>WEY7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201400" y="115214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</a:rPr>
              <a:t>差异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138160" y="1426464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8229600" y="14721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日均充值人数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229600" y="17190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1,913</a:t>
            </a:r>
            <a:endParaRPr lang="en-US" sz="1900" dirty="0"/>
          </a:p>
        </p:txBody>
      </p:sp>
      <p:sp>
        <p:nvSpPr>
          <p:cNvPr id="80" name="Text 78"/>
          <p:cNvSpPr/>
          <p:nvPr/>
        </p:nvSpPr>
        <p:spPr>
          <a:xfrm>
            <a:off x="9509760" y="1719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1,167</a:t>
            </a:r>
            <a:endParaRPr lang="en-US" sz="1900" dirty="0"/>
          </a:p>
        </p:txBody>
      </p:sp>
      <p:sp>
        <p:nvSpPr>
          <p:cNvPr id="81" name="Shape 79"/>
          <p:cNvSpPr/>
          <p:nvPr/>
        </p:nvSpPr>
        <p:spPr>
          <a:xfrm>
            <a:off x="10716768" y="1764792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716768" y="176479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SOLUNO多64%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138160" y="2505456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229600" y="255117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日均充值金额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229600" y="279806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9488"/>
                </a:solidFill>
              </a:rPr>
              <a:t>$21,615</a:t>
            </a:r>
            <a:endParaRPr lang="en-US" sz="1900" dirty="0"/>
          </a:p>
        </p:txBody>
      </p:sp>
      <p:sp>
        <p:nvSpPr>
          <p:cNvPr id="86" name="Text 84"/>
          <p:cNvSpPr/>
          <p:nvPr/>
        </p:nvSpPr>
        <p:spPr>
          <a:xfrm>
            <a:off x="9509760" y="27980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$14,771</a:t>
            </a:r>
            <a:endParaRPr lang="en-US" sz="1900" dirty="0"/>
          </a:p>
        </p:txBody>
      </p:sp>
      <p:sp>
        <p:nvSpPr>
          <p:cNvPr id="87" name="Shape 85"/>
          <p:cNvSpPr/>
          <p:nvPr/>
        </p:nvSpPr>
        <p:spPr>
          <a:xfrm>
            <a:off x="10716768" y="2843784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716768" y="284378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SOLUNO多46%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8138160" y="3584448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8229600" y="363016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首充人均充值额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229600" y="38770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</a:rPr>
              <a:t>$8.63</a:t>
            </a:r>
            <a:endParaRPr lang="en-US" sz="1900" dirty="0"/>
          </a:p>
        </p:txBody>
      </p:sp>
      <p:sp>
        <p:nvSpPr>
          <p:cNvPr id="92" name="Text 90"/>
          <p:cNvSpPr/>
          <p:nvPr/>
        </p:nvSpPr>
        <p:spPr>
          <a:xfrm>
            <a:off x="9509760" y="38770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2400E"/>
                </a:solidFill>
              </a:rPr>
              <a:t>$9.54</a:t>
            </a:r>
            <a:endParaRPr lang="en-US" sz="1900" dirty="0"/>
          </a:p>
        </p:txBody>
      </p:sp>
      <p:sp>
        <p:nvSpPr>
          <p:cNvPr id="93" name="Shape 91"/>
          <p:cNvSpPr/>
          <p:nvPr/>
        </p:nvSpPr>
        <p:spPr>
          <a:xfrm>
            <a:off x="10716768" y="3922776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716768" y="39227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WEY7高10%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138160" y="4663440"/>
            <a:ext cx="3749040" cy="969264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8229600" y="47091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7日复充率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229600" y="495604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4748B"/>
                </a:solidFill>
              </a:rPr>
              <a:t>21.1%</a:t>
            </a:r>
            <a:endParaRPr lang="en-US" sz="1900" dirty="0"/>
          </a:p>
        </p:txBody>
      </p:sp>
      <p:sp>
        <p:nvSpPr>
          <p:cNvPr id="98" name="Text 96"/>
          <p:cNvSpPr/>
          <p:nvPr/>
        </p:nvSpPr>
        <p:spPr>
          <a:xfrm>
            <a:off x="9509760" y="49560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4748B"/>
                </a:solidFill>
              </a:rPr>
              <a:t>21.4%</a:t>
            </a:r>
            <a:endParaRPr lang="en-US" sz="1900" dirty="0"/>
          </a:p>
        </p:txBody>
      </p:sp>
      <p:sp>
        <p:nvSpPr>
          <p:cNvPr id="99" name="Shape 97"/>
          <p:cNvSpPr/>
          <p:nvPr/>
        </p:nvSpPr>
        <p:spPr>
          <a:xfrm>
            <a:off x="10716768" y="5001768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716768" y="50017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</a:rPr>
              <a:t>≈持平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274320" y="6053328"/>
            <a:ext cx="11612880" cy="603504"/>
          </a:xfrm>
          <a:prstGeom prst="roundRect">
            <a:avLst>
              <a:gd name="adj" fmla="val 1212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7200" y="61081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核心矛盾：  </a:t>
            </a:r>
            <a:r>
              <a:rPr lang="en-US" sz="1100" dirty="0">
                <a:solidFill>
                  <a:srgbClr val="1E293B"/>
                </a:solidFill>
              </a:rPr>
              <a:t>WEY7全量/首充/老用户ARPPU均更高，但付费率指标SOLUNO更强。WEY7靠高默认金额拉单价，SOLUNO靠低门槛拉人数和转化率。两种策略各有侧重。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SOLUNO 投放效率：消耗 · 充提差 · 获客成本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近30天趋势（5/17–6/15）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59536"/>
          <a:ext cx="7315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397271731"/>
              </p:ext>
            </p:extLst>
          </p:nvPr>
        </p:nvGraphicFramePr>
        <p:xfrm>
          <a:off x="274320" y="4069080"/>
          <a:ext cx="7731544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>
            <a:extLst>
              <a:ext uri="{FF2B5EF4-FFF2-40B4-BE49-F238E27FC236}">
                <a16:creationId xmlns:a16="http://schemas.microsoft.com/office/drawing/2014/main" id="{71D4DC96-D68F-4F73-5B00-727C039BF664}"/>
              </a:ext>
            </a:extLst>
          </p:cNvPr>
          <p:cNvSpPr/>
          <p:nvPr/>
        </p:nvSpPr>
        <p:spPr>
          <a:xfrm>
            <a:off x="8355686" y="1152143"/>
            <a:ext cx="3561994" cy="3108959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目前日均</a:t>
            </a:r>
            <a:r>
              <a:rPr lang="zh-CN" altLang="en-US" sz="1100" dirty="0">
                <a:solidFill>
                  <a:srgbClr val="1E293B"/>
                </a:solidFill>
                <a:latin typeface="Arial"/>
              </a:rPr>
              <a:t>一级首充获客成本</a:t>
            </a:r>
            <a:r>
              <a:rPr lang="zh-CN" altLang="zh-CN" sz="1100" dirty="0"/>
              <a:t>16.103</a:t>
            </a:r>
            <a:endParaRPr lang="en-US" altLang="zh-CN" sz="1100" dirty="0"/>
          </a:p>
          <a:p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首充</a:t>
            </a:r>
            <a:r>
              <a:rPr lang="en-US" altLang="zh-CN" sz="1100" dirty="0"/>
              <a:t>LTV30</a:t>
            </a:r>
            <a:r>
              <a:rPr lang="zh-CN" altLang="en-US" sz="1100" dirty="0"/>
              <a:t>日</a:t>
            </a:r>
            <a:r>
              <a:rPr lang="zh-CN" altLang="zh-CN" sz="1100" dirty="0"/>
              <a:t>= 首充30日累计总充提差 / 首充人数</a:t>
            </a:r>
            <a:endParaRPr lang="en-US" altLang="zh-CN" sz="1100" dirty="0"/>
          </a:p>
          <a:p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首充</a:t>
            </a:r>
            <a:r>
              <a:rPr lang="en-US" altLang="zh-CN" sz="1100" dirty="0"/>
              <a:t>LTV30</a:t>
            </a:r>
            <a:r>
              <a:rPr lang="zh-CN" altLang="en-US" sz="1100" dirty="0"/>
              <a:t>日 </a:t>
            </a:r>
            <a:r>
              <a:rPr lang="zh-CN" altLang="zh-CN" sz="1100" dirty="0"/>
              <a:t>5.367</a:t>
            </a:r>
            <a:r>
              <a:rPr lang="zh-CN" altLang="en-US" sz="1100" dirty="0"/>
              <a:t>，假设后续用户贡献一致，用户日均贡献</a:t>
            </a:r>
            <a:r>
              <a:rPr lang="en-US" altLang="zh-CN" sz="1100" dirty="0"/>
              <a:t>0.1789</a:t>
            </a:r>
            <a:r>
              <a:rPr lang="zh-CN" altLang="en-US" sz="1100" dirty="0"/>
              <a:t>，预计</a:t>
            </a:r>
            <a:r>
              <a:rPr lang="en-US" altLang="zh-CN" sz="1100" dirty="0"/>
              <a:t>90</a:t>
            </a:r>
            <a:r>
              <a:rPr lang="zh-CN" altLang="en-US" sz="1100" dirty="0"/>
              <a:t>天用户达到</a:t>
            </a:r>
            <a:r>
              <a:rPr lang="en-US" altLang="zh-CN" sz="1100" dirty="0"/>
              <a:t>16.1</a:t>
            </a:r>
            <a:r>
              <a:rPr lang="zh-CN" altLang="en-US" sz="1100" dirty="0"/>
              <a:t>，回本周期预计为</a:t>
            </a:r>
            <a:r>
              <a:rPr lang="en-US" altLang="zh-CN" sz="1100" dirty="0"/>
              <a:t>90</a:t>
            </a:r>
            <a:r>
              <a:rPr lang="zh-CN" altLang="en-US" sz="1100" dirty="0"/>
              <a:t>天</a:t>
            </a:r>
            <a:endParaRPr lang="en-US" altLang="zh-CN" sz="1100" dirty="0"/>
          </a:p>
          <a:p>
            <a:endParaRPr lang="en-US" altLang="zh-C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/>
              <a:t>近期获客成本上升至</a:t>
            </a:r>
            <a:r>
              <a:rPr lang="en-US" altLang="zh-CN" sz="1100" dirty="0"/>
              <a:t>30</a:t>
            </a:r>
            <a:r>
              <a:rPr lang="zh-CN" altLang="en-US" sz="1100" dirty="0"/>
              <a:t>，需要注意控制成本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SOLUNO ARPPU近期趋势：是否在下降？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结论先行：ARPPU整体未下降（微升），但规模收缩、CAC上升，真正的问题在这里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71323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822960"/>
            <a:ext cx="4251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9144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前7日 vs 后7日均值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26680" y="1261872"/>
            <a:ext cx="40690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3167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全量ARPPU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62288" y="13167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$11.07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131552" y="12984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424160" y="1316736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$11.55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26680" y="1636776"/>
            <a:ext cx="4069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16916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首充ARPPU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62288" y="169164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$8.45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131552" y="167335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↑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424160" y="169164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$8.81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26680" y="2011680"/>
            <a:ext cx="40690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206654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老用户ARPPU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162288" y="206654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$11.74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131552" y="204825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↑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424160" y="2066544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$12.18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726680" y="2386584"/>
            <a:ext cx="4069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0" y="2441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首充转化率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162288" y="2441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32.7%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131552" y="24231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</a:rPr>
              <a:t>↑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424160" y="2441448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</a:rPr>
              <a:t>44.8%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726680" y="2761488"/>
            <a:ext cx="40690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0" y="28163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注册人数/日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162288" y="28163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1,274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131552" y="279806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↓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424160" y="2816352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</a:rPr>
              <a:t>829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726680" y="3136392"/>
            <a:ext cx="4069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0" y="31912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充值人数/日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62288" y="3191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2,004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131552" y="31729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↓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424160" y="3191256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</a:rPr>
              <a:t>1,762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26680" y="3511296"/>
            <a:ext cx="4069080" cy="3383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0" y="35661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64748B"/>
                </a:solidFill>
              </a:rPr>
              <a:t>获客成本</a:t>
            </a:r>
            <a:r>
              <a:rPr lang="en-US" sz="1000" b="1" dirty="0">
                <a:solidFill>
                  <a:srgbClr val="64748B"/>
                </a:solidFill>
              </a:rPr>
              <a:t>($)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162288" y="35661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$22.8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131552" y="354787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≈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0424160" y="3566160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</a:rPr>
              <a:t>$21.5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726680" y="3886200"/>
            <a:ext cx="4069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72400" y="39410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首充人均笔数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162288" y="39410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1.42笔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31552" y="3922776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≈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10424160" y="3941064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</a:rPr>
              <a:t>1.40笔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4320" y="4425696"/>
            <a:ext cx="11612880" cy="438912"/>
          </a:xfrm>
          <a:prstGeom prst="roundRect">
            <a:avLst>
              <a:gd name="adj" fmla="val 145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7200" y="448056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</a:rPr>
              <a:t>✓ 结论：  </a:t>
            </a:r>
            <a:r>
              <a:rPr lang="en-US" sz="1100" dirty="0">
                <a:solidFill>
                  <a:srgbClr val="1E293B"/>
                </a:solidFill>
              </a:rPr>
              <a:t>全量/首充/老用户ARPPU后7日均高于前7日，ARPPU整体未下降。真正变化：注册人数-35%、充值人数-12%，规模收缩；首充转化率+12pp，说明流量质量在改善。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4937760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11480" y="5010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📊 首充ARPPU抖动大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11480" y="53218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首充ARPPU波动$7.39–$11.38，主因是首充人数少（266–552人/天），样本小导致方差大，非系统性下降。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251960" y="4937760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4389120" y="5010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⬇ 规模收缩才是问题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4389120" y="53218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注册人数前7日均1,274→后7日均829（-35%），充值人数2,004→1,762（-12%）。规模收缩不影响ARPPU但影响总收入。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8229600" y="4937760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8366760" y="5010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📈 首充转化率大幅提升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366760" y="5321808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前7日32.7%→后7日44.8%（+12.1pp），注册用户质量在改善（或低质渠道流量减少），这是正面信号。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ARPPU差距根因：默认金额 × 最小充值分布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用户最小充值金额分布（MXN，14日平均）  ·  两平台ARPPU差距的结构性来源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926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最低存款门槛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MXN 50 </a:t>
            </a:r>
            <a:r>
              <a:rPr lang="en-US" sz="1300" dirty="0">
                <a:solidFill>
                  <a:srgbClr val="64748B"/>
                </a:solidFill>
              </a:rPr>
              <a:t>vs </a:t>
            </a:r>
            <a:r>
              <a:rPr lang="en-US" sz="2200" b="1" dirty="0">
                <a:solidFill>
                  <a:srgbClr val="92400E"/>
                </a:solidFill>
              </a:rPr>
              <a:t>MXN 100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WEY7高2倍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951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默认充值金额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694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MXN 50 </a:t>
            </a:r>
            <a:r>
              <a:rPr lang="en-US" sz="1300" dirty="0">
                <a:solidFill>
                  <a:srgbClr val="64748B"/>
                </a:solidFill>
              </a:rPr>
              <a:t>vs </a:t>
            </a:r>
            <a:r>
              <a:rPr lang="en-US" sz="2200" b="1" dirty="0">
                <a:solidFill>
                  <a:srgbClr val="92400E"/>
                </a:solidFill>
              </a:rPr>
              <a:t>MXN 300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F4444"/>
                </a:solidFill>
              </a:rPr>
              <a:t>→ WEY7高6倍，直接拉高ARPPU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547872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62102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人均充值笔数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953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1.77笔 </a:t>
            </a:r>
            <a:r>
              <a:rPr lang="en-US" sz="1300" dirty="0">
                <a:solidFill>
                  <a:srgbClr val="64748B"/>
                </a:solidFill>
              </a:rPr>
              <a:t>vs </a:t>
            </a:r>
            <a:r>
              <a:rPr lang="en-US" sz="2200" b="1" dirty="0">
                <a:solidFill>
                  <a:srgbClr val="92400E"/>
                </a:solidFill>
              </a:rPr>
              <a:t>1.74笔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基本无差异，频率不是根因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669280" y="822960"/>
          <a:ext cx="621792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274320" y="51206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51846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关键：  </a:t>
            </a:r>
            <a:r>
              <a:rPr lang="en-US" sz="1000" dirty="0">
                <a:solidFill>
                  <a:srgbClr val="1E293B"/>
                </a:solidFill>
              </a:rPr>
              <a:t>SOLUNO 52.5%用户最小充值&lt;100 MXN（其中42.9%在[50,100)段），这是ARPPU差距根源。调默认快捷键是低风险高回报的首选动作。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5925312"/>
            <a:ext cx="11612880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💡 ARPPU差距 = 默认金额6倍差（MXN50 vs 300）引导单次充值更多，而非用户更舍得花。两平台人均充值笔数几乎相同(1.77 vs 1.74)，</a:t>
            </a:r>
            <a:r>
              <a:rPr lang="en-US" sz="1100" dirty="0" err="1">
                <a:solidFill>
                  <a:srgbClr val="1E293B"/>
                </a:solidFill>
              </a:rPr>
              <a:t>频率不是原因</a:t>
            </a:r>
            <a:r>
              <a:rPr lang="en-US" sz="1100" dirty="0">
                <a:solidFill>
                  <a:srgbClr val="1E293B"/>
                </a:solidFill>
              </a:rPr>
              <a:t>。</a:t>
            </a:r>
          </a:p>
          <a:p>
            <a:r>
              <a:rPr lang="en-US" altLang="zh-CN" sz="1100" b="1" dirty="0">
                <a:solidFill>
                  <a:srgbClr val="FF0000"/>
                </a:solidFill>
              </a:rPr>
              <a:t>💡</a:t>
            </a:r>
            <a:r>
              <a:rPr lang="zh-CN" altLang="en-US" sz="1100" b="1" dirty="0">
                <a:solidFill>
                  <a:srgbClr val="FF0000"/>
                </a:solidFill>
              </a:rPr>
              <a:t>提高最低存款门槛会影响部分用户的充值订单，用户可能会不充或者转向更高档位充值，但以</a:t>
            </a:r>
            <a:r>
              <a:rPr lang="en-US" altLang="zh-CN" sz="1100" b="1" dirty="0">
                <a:solidFill>
                  <a:srgbClr val="FF0000"/>
                </a:solidFill>
              </a:rPr>
              <a:t>wey7</a:t>
            </a:r>
            <a:r>
              <a:rPr lang="zh-CN" altLang="en-US" sz="1100" b="1" dirty="0">
                <a:solidFill>
                  <a:srgbClr val="FF0000"/>
                </a:solidFill>
              </a:rPr>
              <a:t>做参考，预计可以把</a:t>
            </a:r>
            <a:r>
              <a:rPr lang="en-US" altLang="zh-CN" sz="1100" b="1" dirty="0">
                <a:solidFill>
                  <a:srgbClr val="FF0000"/>
                </a:solidFill>
              </a:rPr>
              <a:t>12.5%</a:t>
            </a:r>
            <a:r>
              <a:rPr lang="zh-CN" altLang="en-US" sz="1100" b="1" dirty="0">
                <a:solidFill>
                  <a:srgbClr val="FF0000"/>
                </a:solidFill>
              </a:rPr>
              <a:t>在</a:t>
            </a:r>
            <a:r>
              <a:rPr lang="en-US" altLang="zh-CN" sz="1100" b="1" dirty="0">
                <a:solidFill>
                  <a:srgbClr val="FF0000"/>
                </a:solidFill>
              </a:rPr>
              <a:t>[50,100)</a:t>
            </a:r>
            <a:r>
              <a:rPr lang="zh-CN" altLang="en-US" sz="1100" b="1" dirty="0">
                <a:solidFill>
                  <a:srgbClr val="FF0000"/>
                </a:solidFill>
              </a:rPr>
              <a:t>的用户提升到</a:t>
            </a:r>
            <a:r>
              <a:rPr lang="en-US" altLang="zh-CN" sz="1100" b="1" dirty="0">
                <a:solidFill>
                  <a:srgbClr val="FF0000"/>
                </a:solidFill>
              </a:rPr>
              <a:t>[100,200)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用户质量深度对比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新用户 vs 老用户 付费行为分层  |  14日加权均值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94960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新用户质量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5394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3350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首充转化率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38.8%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1554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25.1%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0" y="1554480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SOLUNO高13.7pp，新用户漏斗效率明显更优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5394960" cy="795528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221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新充付费率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14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30.6%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24414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4414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29.8%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23360" y="2441448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两平台接近，SOLUNO微领先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054096"/>
            <a:ext cx="5394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" y="31089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首充ARPPU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3284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$8.74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103120" y="332841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33284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400E"/>
                </a:solidFill>
              </a:rPr>
              <a:t>$9.47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023360" y="3328416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WEY7首充客单高，高门槛过滤低付费用户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941064"/>
            <a:ext cx="5394960" cy="795528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" y="39959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首充人均充值笔数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42153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1.46笔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103120" y="42153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42153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1.45笔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023360" y="4215384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完全相同，首充复充频率无差异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4828032"/>
            <a:ext cx="539496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" y="48828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首充用户当日复充率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510235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~15%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103120" y="51023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06040" y="5102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400E"/>
                </a:solidFill>
              </a:rPr>
              <a:t>~18%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023360" y="5102352"/>
            <a:ext cx="1536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WEY7首充用户当日再充比例更高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0" y="868680"/>
            <a:ext cx="5943600" cy="329184"/>
          </a:xfrm>
          <a:prstGeom prst="roundRect">
            <a:avLst>
              <a:gd name="adj" fmla="val 19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8686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</a:rPr>
              <a:t>老用户质量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1280160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08192" y="133502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老用户ARPPU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08192" y="15544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$12.00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863840" y="1554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66760" y="15544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400E"/>
                </a:solidFill>
              </a:rPr>
              <a:t>$13.87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0058400" y="1481328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WEY7老用户付费额高$1.87，复充时充更多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0" y="2167128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08192" y="222199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老充付费率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08192" y="244144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24.0%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863840" y="24414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66760" y="24414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20.0%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058400" y="2368296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SOLUNO老用户回充比例更高+4pp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43600" y="3054096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08192" y="31089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活跃用户付费率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08192" y="332841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25.0%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863840" y="332841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66760" y="33284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24.6%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10058400" y="3255264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SOLUNO活跃用户付费率微领先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943600" y="3941064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108192" y="3995928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7日首充复充率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08192" y="42153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21.1%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7863840" y="421538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66760" y="42153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</a:rPr>
              <a:t>21.4%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10058400" y="4142232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两平台基本持平，约1/5首充用户7日内回充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43600" y="4828032"/>
            <a:ext cx="5943600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108192" y="488289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非首充ARPPU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08192" y="5102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</a:rPr>
              <a:t>~$11.30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7863840" y="51023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366760" y="510235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2400E"/>
                </a:solidFill>
              </a:rPr>
              <a:t>~$11.90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10058400" y="5029200"/>
            <a:ext cx="1691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WEY7老用户单次复充金额略高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5961888"/>
            <a:ext cx="11612880" cy="676656"/>
          </a:xfrm>
          <a:prstGeom prst="roundRect">
            <a:avLst>
              <a:gd name="adj" fmla="val 1081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01675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</a:rPr>
              <a:t>用户质量结论：  </a:t>
            </a:r>
            <a:r>
              <a:rPr lang="en-US" sz="1100" dirty="0">
                <a:solidFill>
                  <a:srgbClr val="1E293B"/>
                </a:solidFill>
              </a:rPr>
              <a:t>SOLUNO新用户漏斗效率更强（首充转化+13.7pp）、老用户回充黏性更高（老充付费率+4pp）。WEY7优势在于老用户ARPPU更高（+$1.87）、首充客单更高——两平台各有所长，不存在全面碾压。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总代渠道质量对比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主要总代 2026-06-15 单日  |  按充值金额排序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19" y="868679"/>
            <a:ext cx="9222604" cy="321999"/>
          </a:xfrm>
          <a:prstGeom prst="roundRect">
            <a:avLst>
              <a:gd name="adj" fmla="val 2058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SOLUNO 主要总代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428280"/>
              </p:ext>
            </p:extLst>
          </p:nvPr>
        </p:nvGraphicFramePr>
        <p:xfrm>
          <a:off x="274320" y="1252728"/>
          <a:ext cx="9222604" cy="3319274"/>
        </p:xfrm>
        <a:graphic>
          <a:graphicData uri="http://schemas.openxmlformats.org/drawingml/2006/table">
            <a:tbl>
              <a:tblPr/>
              <a:tblGrid>
                <a:gridCol w="1109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0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08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14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14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14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总代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注册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充值人数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首充转化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全量ARPPU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首充ARPPU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老用ARPPU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活跃付费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老充付费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新充付费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TL_TFAS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370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618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$14.0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$11.0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$14.7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TL_TFXH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97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56%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$13.4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$13.9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$13.3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26%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49%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官方总代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$10.5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$18.2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$8.7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23%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54%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TL_TFAD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106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164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28%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$11.5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$7.8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$12.3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19%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19%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TL_TFQQ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160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40%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$10.9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$6.1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$12.8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36%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1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TL_DP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111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55%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$15.3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$6.0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$15.8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9%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19" y="4636008"/>
            <a:ext cx="1161288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19" y="4636008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37159" y="469087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SOLUNO 最优质渠道</a:t>
            </a:r>
            <a:endParaRPr lang="en-US" sz="950" dirty="0"/>
          </a:p>
        </p:txBody>
      </p:sp>
      <p:sp>
        <p:nvSpPr>
          <p:cNvPr id="9" name="Text 9"/>
          <p:cNvSpPr/>
          <p:nvPr/>
        </p:nvSpPr>
        <p:spPr>
          <a:xfrm>
            <a:off x="1783079" y="47091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TL_TFXH：首充转化56%+全量ARPPU$13.4+新充付费率49%，三项均衡最优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官方总代：首充转化70%但老用ARPPU仅$8.7，新用户质量高但老用户留存偏弱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若SOLUNO参数对齐WEY7 → 预计影响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3749040" cy="2514600"/>
          </a:xfrm>
          <a:prstGeom prst="roundRect">
            <a:avLst>
              <a:gd name="adj" fmla="val 4364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8912" y="804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首充转化率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15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当前：38.8%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481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↓ 降至 ~22–28%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" y="2029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52.5%用户最小充值&lt;100MXN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</a:rPr>
              <a:t>被门槛直接拦截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685800"/>
            <a:ext cx="3749040" cy="2514600"/>
          </a:xfrm>
          <a:prstGeom prst="roundRect">
            <a:avLst>
              <a:gd name="adj" fmla="val 4364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804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ARPPU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16552" y="1115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当前：$11.31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6552" y="1481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↑ 升至 ~$13–14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16552" y="2029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300MXN默认快捷键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引导单次充更多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685800"/>
            <a:ext cx="3749040" cy="2514600"/>
          </a:xfrm>
          <a:prstGeom prst="roundRect">
            <a:avLst>
              <a:gd name="adj" fmla="val 4364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192" y="804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日均充值总额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1115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当前：$21,615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94192" y="1481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↓ 降至 ~$16,000–18,000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0299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充值人数减少30–40%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总量净收缩20–25%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11612880" cy="420624"/>
          </a:xfrm>
          <a:prstGeom prst="roundRect">
            <a:avLst>
              <a:gd name="adj" fmla="val 1521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 综合结论：  </a:t>
            </a:r>
            <a:r>
              <a:rPr lang="en-US" sz="1100" dirty="0">
                <a:solidFill>
                  <a:srgbClr val="1E293B"/>
                </a:solidFill>
              </a:rPr>
              <a:t>全面对齐WEY7参数 = </a:t>
            </a:r>
            <a:r>
              <a:rPr lang="en-US" sz="1100" dirty="0" err="1">
                <a:solidFill>
                  <a:srgbClr val="1E293B"/>
                </a:solidFill>
              </a:rPr>
              <a:t>以规模换单价。ARPPU提升</a:t>
            </a:r>
            <a:r>
              <a:rPr lang="en-US" sz="1100" dirty="0">
                <a:solidFill>
                  <a:srgbClr val="1E293B"/>
                </a:solidFill>
              </a:rPr>
              <a:t>~$2，但充值人数减少数百人/天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85876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连续充值活动关键差异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78808"/>
          <a:ext cx="11612880" cy="22494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SOLUNO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</a:rPr>
                        <a:t>WEY7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差异 &amp; 建议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最低存款(第1次)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MXN 50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MXN 100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WEY7高2倍 | 建议：暂不调，保住首充转化率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第1次奖励比例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SOLUNO明显偏低 | 建议：上调至4%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第4次最低门槛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MXN 2,000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MXN 1,000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SOLUNO过高，极少触达 | 建议：降至1,000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打码游戏类型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老虎机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无限制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WEY7更友好 | 建议：改为无限制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打码倍数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35x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30x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WEY7低5倍 | 可择机下调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0"/>
            <a:ext cx="3200400" cy="32004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</a:rPr>
              <a:t>结论 &amp; 行动建议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73152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731520"/>
            <a:ext cx="1143000" cy="1115568"/>
          </a:xfrm>
          <a:prstGeom prst="roundRect">
            <a:avLst>
              <a:gd name="adj" fmla="val 819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31520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82296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SOLUNO ARPPU整体未下降，但规模收缩需关注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15214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14日内全量ARPPU从$11.07→$11.55（微升），首充/老用户ARPPU同步上升。真正下降的是注册人数（-35%）和充值人数（-12%）。首充转化率从32.7%升至44.8%，说明流量质量在改善，但量在减少。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" y="1965960"/>
            <a:ext cx="1143000" cy="1115568"/>
          </a:xfrm>
          <a:prstGeom prst="roundRect">
            <a:avLst>
              <a:gd name="adj" fmla="val 819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尝试</a:t>
            </a:r>
            <a:endParaRPr lang="en-US" sz="1200" b="1" dirty="0"/>
          </a:p>
        </p:txBody>
      </p:sp>
      <p:sp>
        <p:nvSpPr>
          <p:cNvPr id="13" name="Text 11"/>
          <p:cNvSpPr/>
          <p:nvPr/>
        </p:nvSpPr>
        <p:spPr>
          <a:xfrm>
            <a:off x="1920240" y="205740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E293B"/>
                </a:solidFill>
              </a:rPr>
              <a:t>最低存款门槛</a:t>
            </a:r>
            <a:r>
              <a:rPr lang="en-US" sz="1200" b="1" dirty="0">
                <a:solidFill>
                  <a:srgbClr val="1E293B"/>
                </a:solidFill>
              </a:rPr>
              <a:t>直接对齐WEY7门槛（100 MXN</a:t>
            </a:r>
            <a:r>
              <a:rPr lang="zh-CN" altLang="en-US" sz="1200" b="1" dirty="0">
                <a:solidFill>
                  <a:srgbClr val="1E293B"/>
                </a:solidFill>
              </a:rPr>
              <a:t>，有一定风险</a:t>
            </a:r>
            <a:r>
              <a:rPr lang="en-US" sz="1200" b="1" dirty="0">
                <a:solidFill>
                  <a:srgbClr val="1E293B"/>
                </a:solidFill>
              </a:rPr>
              <a:t>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38658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475569"/>
                </a:solidFill>
              </a:rPr>
              <a:t>最小充值数据：52.5%的SOLUNO用户最小充值&lt;100 MXN，其中42.9%在[50,100)段。强行提高门槛将首充转化率从38.8%跌至~22–28%，</a:t>
            </a:r>
            <a:r>
              <a:rPr lang="zh-CN" altLang="en-US" sz="950" dirty="0">
                <a:solidFill>
                  <a:srgbClr val="475569"/>
                </a:solidFill>
              </a:rPr>
              <a:t>充值人数和充值笔数短期内会有负影响，需要根据观察调整后续的数据，充值金额整体是否会有负面影响</a:t>
            </a:r>
            <a:r>
              <a:rPr lang="en-US" sz="950" dirty="0">
                <a:solidFill>
                  <a:srgbClr val="475569"/>
                </a:solidFill>
              </a:rPr>
              <a:t>。</a:t>
            </a:r>
            <a:r>
              <a:rPr lang="zh-CN" altLang="en-US" sz="1000" b="1" dirty="0">
                <a:solidFill>
                  <a:srgbClr val="FF0000"/>
                </a:solidFill>
              </a:rPr>
              <a:t>以</a:t>
            </a:r>
            <a:r>
              <a:rPr lang="en-US" altLang="zh-CN" sz="1000" b="1" dirty="0">
                <a:solidFill>
                  <a:srgbClr val="FF0000"/>
                </a:solidFill>
              </a:rPr>
              <a:t>wey7</a:t>
            </a:r>
            <a:r>
              <a:rPr lang="zh-CN" altLang="en-US" sz="1000" b="1" dirty="0">
                <a:solidFill>
                  <a:srgbClr val="FF0000"/>
                </a:solidFill>
              </a:rPr>
              <a:t>做参考，预计可以把</a:t>
            </a:r>
            <a:r>
              <a:rPr lang="en-US" altLang="zh-CN" sz="1000" b="1" dirty="0">
                <a:solidFill>
                  <a:srgbClr val="FF0000"/>
                </a:solidFill>
              </a:rPr>
              <a:t>12.5%</a:t>
            </a:r>
            <a:r>
              <a:rPr lang="zh-CN" altLang="en-US" sz="1000" b="1" dirty="0">
                <a:solidFill>
                  <a:srgbClr val="FF0000"/>
                </a:solidFill>
              </a:rPr>
              <a:t>最低充值在</a:t>
            </a:r>
            <a:r>
              <a:rPr lang="en-US" altLang="zh-CN" sz="1000" b="1" dirty="0">
                <a:solidFill>
                  <a:srgbClr val="FF0000"/>
                </a:solidFill>
              </a:rPr>
              <a:t>[50,100)</a:t>
            </a:r>
            <a:r>
              <a:rPr lang="zh-CN" altLang="en-US" sz="1000" b="1" dirty="0">
                <a:solidFill>
                  <a:srgbClr val="FF0000"/>
                </a:solidFill>
              </a:rPr>
              <a:t>的用户提升到</a:t>
            </a:r>
            <a:r>
              <a:rPr lang="en-US" altLang="zh-CN" sz="1000" b="1" dirty="0">
                <a:solidFill>
                  <a:srgbClr val="FF0000"/>
                </a:solidFill>
              </a:rPr>
              <a:t>[100,200)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00400"/>
            <a:ext cx="1143000" cy="1115568"/>
          </a:xfrm>
          <a:prstGeom prst="roundRect">
            <a:avLst>
              <a:gd name="adj" fmla="val 819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优先①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9184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调整默认快捷键：50→300 MXN（低风险、高回报）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62102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475569"/>
                </a:solidFill>
              </a:rPr>
              <a:t>两平台人均充值笔数相同(1.77 vs 1.74)，</a:t>
            </a:r>
            <a:r>
              <a:rPr lang="en-US" sz="950" dirty="0" err="1">
                <a:solidFill>
                  <a:srgbClr val="475569"/>
                </a:solidFill>
              </a:rPr>
              <a:t>ARPPU差距来自单次金额而非频率</a:t>
            </a:r>
            <a:r>
              <a:rPr lang="en-US" sz="950" dirty="0">
                <a:solidFill>
                  <a:srgbClr val="475569"/>
                </a:solidFill>
              </a:rPr>
              <a:t>。</a:t>
            </a:r>
            <a:r>
              <a:rPr lang="en-US" altLang="zh-CN" sz="1000" dirty="0">
                <a:solidFill>
                  <a:srgbClr val="1E293B"/>
                </a:solidFill>
              </a:rPr>
              <a:t> </a:t>
            </a:r>
            <a:r>
              <a:rPr lang="en-US" altLang="zh-CN" sz="1050" dirty="0">
                <a:solidFill>
                  <a:srgbClr val="1E293B"/>
                </a:solidFill>
              </a:rPr>
              <a:t>ARPPU</a:t>
            </a:r>
            <a:r>
              <a:rPr lang="zh-CN" altLang="en-US" sz="1050" dirty="0">
                <a:solidFill>
                  <a:srgbClr val="1E293B"/>
                </a:solidFill>
              </a:rPr>
              <a:t>预计</a:t>
            </a:r>
            <a:r>
              <a:rPr lang="en-US" altLang="zh-CN" sz="1050" dirty="0" err="1">
                <a:solidFill>
                  <a:srgbClr val="1E293B"/>
                </a:solidFill>
              </a:rPr>
              <a:t>提升</a:t>
            </a:r>
            <a:r>
              <a:rPr lang="en-US" altLang="zh-CN" sz="1050" dirty="0">
                <a:solidFill>
                  <a:srgbClr val="1E293B"/>
                </a:solidFill>
              </a:rPr>
              <a:t>~$2 </a:t>
            </a:r>
            <a:r>
              <a:rPr lang="en-US" sz="950" dirty="0">
                <a:solidFill>
                  <a:srgbClr val="475569"/>
                </a:solidFill>
              </a:rPr>
              <a:t>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9728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270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34840"/>
            <a:ext cx="1143000" cy="1115568"/>
          </a:xfrm>
          <a:prstGeom prst="roundRect">
            <a:avLst>
              <a:gd name="adj" fmla="val 819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1143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优先②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4526280"/>
            <a:ext cx="9509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优化连续充值活动参数（三项关键调整）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85546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① 第4次门槛从2,000降至1,000 MXN（现极少触达，活动形同虚设）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② 首次奖励从2%上调至4%（WEY7是5%，SOLUNO首次奖励吸引力明显不足）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③ 打码类型从「老虎机」改为「无限制」（参考WEY7，提升参与度）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1304</Words>
  <Application>Microsoft Office PowerPoint</Application>
  <PresentationFormat>宽屏</PresentationFormat>
  <Paragraphs>337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3</cp:revision>
  <dcterms:created xsi:type="dcterms:W3CDTF">2026-06-16T15:21:55Z</dcterms:created>
  <dcterms:modified xsi:type="dcterms:W3CDTF">2026-06-16T16:50:28Z</dcterms:modified>
</cp:coreProperties>
</file>